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x="18288000" cy="10287000"/>
  <p:notesSz cx="6858000" cy="9144000"/>
  <p:embeddedFontLst>
    <p:embeddedFont>
      <p:font typeface="Brice SemiExpanded" panose="020B0604020202020204" charset="0"/>
      <p:regular r:id="rId43"/>
    </p:embeddedFont>
    <p:embeddedFont>
      <p:font typeface="Brice SemiExpanded Bold" panose="020B0604020202020204" charset="0"/>
      <p:regular r:id="rId44"/>
    </p:embeddedFont>
    <p:embeddedFont>
      <p:font typeface="Brice SemiExpanded Extra-Light" panose="020B0604020202020204" charset="0"/>
      <p:regular r:id="rId45"/>
    </p:embeddedFont>
    <p:embeddedFont>
      <p:font typeface="Klein" panose="020B0604020202020204" charset="0"/>
      <p:regular r:id="rId46"/>
    </p:embeddedFont>
    <p:embeddedFont>
      <p:font typeface="Klein Bold" panose="020B0604020202020204" charset="0"/>
      <p:regular r:id="rId47"/>
    </p:embeddedFont>
    <p:embeddedFont>
      <p:font typeface="Klein Bold Italics" panose="020B0604020202020204" charset="0"/>
      <p:regular r:id="rId48"/>
    </p:embeddedFont>
    <p:embeddedFont>
      <p:font typeface="Montserrat Bold" panose="020B0604020202020204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447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2E518-A3D7-42EB-A42A-E241D54FE71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F07E7-A1D2-400B-8E9D-5C6A35150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6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F07E7-A1D2-400B-8E9D-5C6A35150CF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13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211" y="1596186"/>
            <a:ext cx="14050397" cy="6082731"/>
            <a:chOff x="0" y="0"/>
            <a:chExt cx="4575260" cy="19807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5259" cy="1980732"/>
            </a:xfrm>
            <a:custGeom>
              <a:avLst/>
              <a:gdLst/>
              <a:ahLst/>
              <a:cxnLst/>
              <a:rect l="l" t="t" r="r" b="b"/>
              <a:pathLst>
                <a:path w="4575259" h="1980732">
                  <a:moveTo>
                    <a:pt x="4337134" y="0"/>
                  </a:moveTo>
                  <a:lnTo>
                    <a:pt x="4575259" y="238125"/>
                  </a:lnTo>
                  <a:lnTo>
                    <a:pt x="4575259" y="1742607"/>
                  </a:lnTo>
                  <a:lnTo>
                    <a:pt x="4337134" y="1980732"/>
                  </a:lnTo>
                  <a:lnTo>
                    <a:pt x="238125" y="1980732"/>
                  </a:lnTo>
                  <a:lnTo>
                    <a:pt x="0" y="1742607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337134" y="0"/>
                  </a:lnTo>
                  <a:close/>
                </a:path>
              </a:pathLst>
            </a:custGeom>
            <a:solidFill>
              <a:srgbClr val="00357A"/>
            </a:solidFill>
            <a:ln w="38100" cap="sq">
              <a:solidFill>
                <a:srgbClr val="00357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15875"/>
              <a:ext cx="4448260" cy="1901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949227" y="1028700"/>
            <a:ext cx="4166828" cy="1339719"/>
            <a:chOff x="0" y="0"/>
            <a:chExt cx="1086908" cy="3494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6908" cy="349463"/>
            </a:xfrm>
            <a:custGeom>
              <a:avLst/>
              <a:gdLst/>
              <a:ahLst/>
              <a:cxnLst/>
              <a:rect l="l" t="t" r="r" b="b"/>
              <a:pathLst>
                <a:path w="1086908" h="349463">
                  <a:moveTo>
                    <a:pt x="174731" y="0"/>
                  </a:moveTo>
                  <a:lnTo>
                    <a:pt x="912177" y="0"/>
                  </a:lnTo>
                  <a:cubicBezTo>
                    <a:pt x="958518" y="0"/>
                    <a:pt x="1002962" y="18409"/>
                    <a:pt x="1035730" y="51178"/>
                  </a:cubicBezTo>
                  <a:cubicBezTo>
                    <a:pt x="1068499" y="83946"/>
                    <a:pt x="1086908" y="128390"/>
                    <a:pt x="1086908" y="174731"/>
                  </a:cubicBezTo>
                  <a:lnTo>
                    <a:pt x="1086908" y="174731"/>
                  </a:lnTo>
                  <a:cubicBezTo>
                    <a:pt x="1086908" y="271233"/>
                    <a:pt x="1008678" y="349463"/>
                    <a:pt x="912177" y="349463"/>
                  </a:cubicBezTo>
                  <a:lnTo>
                    <a:pt x="174731" y="349463"/>
                  </a:lnTo>
                  <a:cubicBezTo>
                    <a:pt x="128390" y="349463"/>
                    <a:pt x="83946" y="331054"/>
                    <a:pt x="51178" y="298285"/>
                  </a:cubicBezTo>
                  <a:cubicBezTo>
                    <a:pt x="18409" y="265517"/>
                    <a:pt x="0" y="221073"/>
                    <a:pt x="0" y="174731"/>
                  </a:cubicBezTo>
                  <a:lnTo>
                    <a:pt x="0" y="174731"/>
                  </a:lnTo>
                  <a:cubicBezTo>
                    <a:pt x="0" y="128390"/>
                    <a:pt x="18409" y="83946"/>
                    <a:pt x="51178" y="51178"/>
                  </a:cubicBezTo>
                  <a:cubicBezTo>
                    <a:pt x="83946" y="18409"/>
                    <a:pt x="128390" y="0"/>
                    <a:pt x="174731" y="0"/>
                  </a:cubicBezTo>
                  <a:close/>
                </a:path>
              </a:pathLst>
            </a:custGeom>
            <a:solidFill>
              <a:srgbClr val="EFEFE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86908" cy="39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88511" y="1143599"/>
            <a:ext cx="3888259" cy="1109921"/>
          </a:xfrm>
          <a:custGeom>
            <a:avLst/>
            <a:gdLst/>
            <a:ahLst/>
            <a:cxnLst/>
            <a:rect l="l" t="t" r="r" b="b"/>
            <a:pathLst>
              <a:path w="3888259" h="1109921">
                <a:moveTo>
                  <a:pt x="0" y="0"/>
                </a:moveTo>
                <a:lnTo>
                  <a:pt x="3888259" y="0"/>
                </a:lnTo>
                <a:lnTo>
                  <a:pt x="3888259" y="1109921"/>
                </a:lnTo>
                <a:lnTo>
                  <a:pt x="0" y="110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051968" y="3347842"/>
            <a:ext cx="13874884" cy="239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11"/>
              </a:lnSpc>
            </a:pPr>
            <a:r>
              <a:rPr lang="en-US" sz="7958">
                <a:solidFill>
                  <a:srgbClr val="EFEFED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COUPON RECOMMENDATIONS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47059" y="8047525"/>
            <a:ext cx="11351466" cy="1622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2749" b="1" i="1">
                <a:solidFill>
                  <a:srgbClr val="004AAD"/>
                </a:solidFill>
                <a:latin typeface="Klein Bold Italics"/>
                <a:ea typeface="Klein Bold Italics"/>
                <a:cs typeface="Klein Bold Italics"/>
                <a:sym typeface="Klein Bold Italics"/>
              </a:rPr>
              <a:t>Data Miners</a:t>
            </a:r>
          </a:p>
          <a:p>
            <a:pPr marL="0" lvl="0" indent="0" algn="ctr">
              <a:lnSpc>
                <a:spcPts val="4399"/>
              </a:lnSpc>
              <a:spcBef>
                <a:spcPct val="0"/>
              </a:spcBef>
            </a:pPr>
            <a:r>
              <a:rPr lang="en-US" sz="2749" b="1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Theresa Borlongan, Riley Coons, Yasmin Kaori Kashin Ogasawara, Talia Sandeen, Allison Schutzler​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0169" y="1470297"/>
            <a:ext cx="2465377" cy="40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57"/>
              </a:lnSpc>
              <a:spcBef>
                <a:spcPct val="0"/>
              </a:spcBef>
            </a:pPr>
            <a:r>
              <a:rPr lang="en-US" sz="2035" b="1" spc="270">
                <a:solidFill>
                  <a:srgbClr val="EFEFED"/>
                </a:solidFill>
                <a:latin typeface="Klein Bold"/>
                <a:ea typeface="Klein Bold"/>
                <a:cs typeface="Klein Bold"/>
                <a:sym typeface="Klein Bold"/>
              </a:rPr>
              <a:t>12 / 1 /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56199" y="5904748"/>
            <a:ext cx="4908952" cy="19050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710615"/>
            <a:ext cx="2426367" cy="242636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15503" y="4117580"/>
            <a:ext cx="9530614" cy="3612437"/>
            <a:chOff x="0" y="0"/>
            <a:chExt cx="2510120" cy="9514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10120" cy="951424"/>
            </a:xfrm>
            <a:custGeom>
              <a:avLst/>
              <a:gdLst/>
              <a:ahLst/>
              <a:cxnLst/>
              <a:rect l="l" t="t" r="r" b="b"/>
              <a:pathLst>
                <a:path w="2510120" h="951424">
                  <a:moveTo>
                    <a:pt x="0" y="0"/>
                  </a:moveTo>
                  <a:lnTo>
                    <a:pt x="2510120" y="0"/>
                  </a:lnTo>
                  <a:lnTo>
                    <a:pt x="2510120" y="951424"/>
                  </a:lnTo>
                  <a:lnTo>
                    <a:pt x="0" y="951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7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510120" cy="999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832933" y="4710615"/>
            <a:ext cx="2426367" cy="24263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02319" y="4710615"/>
            <a:ext cx="2426367" cy="242636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00357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00" y="15875"/>
              <a:ext cx="685800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82784" y="5573913"/>
            <a:ext cx="1532415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Identify ML</a:t>
            </a:r>
          </a:p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Framework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41920" y="3524545"/>
            <a:ext cx="3877779" cy="1186069"/>
            <a:chOff x="0" y="0"/>
            <a:chExt cx="1021308" cy="3123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1308" cy="312380"/>
            </a:xfrm>
            <a:custGeom>
              <a:avLst/>
              <a:gdLst/>
              <a:ahLst/>
              <a:cxnLst/>
              <a:rect l="l" t="t" r="r" b="b"/>
              <a:pathLst>
                <a:path w="1021308" h="312380">
                  <a:moveTo>
                    <a:pt x="0" y="0"/>
                  </a:moveTo>
                  <a:lnTo>
                    <a:pt x="1021308" y="0"/>
                  </a:lnTo>
                  <a:lnTo>
                    <a:pt x="1021308" y="312380"/>
                  </a:lnTo>
                  <a:lnTo>
                    <a:pt x="0" y="312380"/>
                  </a:ln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00357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021308" cy="360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41920" y="5330764"/>
            <a:ext cx="3877779" cy="1186069"/>
            <a:chOff x="0" y="0"/>
            <a:chExt cx="1021308" cy="3123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1308" cy="312380"/>
            </a:xfrm>
            <a:custGeom>
              <a:avLst/>
              <a:gdLst/>
              <a:ahLst/>
              <a:cxnLst/>
              <a:rect l="l" t="t" r="r" b="b"/>
              <a:pathLst>
                <a:path w="1021308" h="312380">
                  <a:moveTo>
                    <a:pt x="0" y="0"/>
                  </a:moveTo>
                  <a:lnTo>
                    <a:pt x="1021308" y="0"/>
                  </a:lnTo>
                  <a:lnTo>
                    <a:pt x="1021308" y="312380"/>
                  </a:lnTo>
                  <a:lnTo>
                    <a:pt x="0" y="312380"/>
                  </a:ln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00357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021308" cy="360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41920" y="7136982"/>
            <a:ext cx="3877779" cy="1186069"/>
            <a:chOff x="0" y="0"/>
            <a:chExt cx="1021308" cy="3123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1308" cy="312380"/>
            </a:xfrm>
            <a:custGeom>
              <a:avLst/>
              <a:gdLst/>
              <a:ahLst/>
              <a:cxnLst/>
              <a:rect l="l" t="t" r="r" b="b"/>
              <a:pathLst>
                <a:path w="1021308" h="312380">
                  <a:moveTo>
                    <a:pt x="0" y="0"/>
                  </a:moveTo>
                  <a:lnTo>
                    <a:pt x="1021308" y="0"/>
                  </a:lnTo>
                  <a:lnTo>
                    <a:pt x="1021308" y="312380"/>
                  </a:lnTo>
                  <a:lnTo>
                    <a:pt x="0" y="312380"/>
                  </a:ln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00357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021308" cy="360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0" y="900530"/>
            <a:ext cx="18288000" cy="141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11"/>
              </a:lnSpc>
            </a:pPr>
            <a:r>
              <a:rPr lang="en-US" sz="8164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PROCESS FLOW DIAGRAM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14350" y="5549148"/>
            <a:ext cx="1255068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EFEFED"/>
                </a:solidFill>
                <a:latin typeface="Klein Bold"/>
                <a:ea typeface="Klein Bold"/>
                <a:cs typeface="Klein Bold"/>
                <a:sym typeface="Klein Bold"/>
              </a:rPr>
              <a:t>Business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EFEFED"/>
                </a:solidFill>
                <a:latin typeface="Klein Bold"/>
                <a:ea typeface="Klein Bold"/>
                <a:cs typeface="Klein Bold"/>
                <a:sym typeface="Klein Bold"/>
              </a:rPr>
              <a:t>Problem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68869" y="3739550"/>
            <a:ext cx="3023880" cy="780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Data Preprocessing</a:t>
            </a:r>
          </a:p>
          <a:p>
            <a:pPr algn="ctr">
              <a:lnSpc>
                <a:spcPts val="3080"/>
              </a:lnSpc>
            </a:pPr>
            <a:r>
              <a:rPr lang="en-US" sz="22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and Exploration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43241" y="5513589"/>
            <a:ext cx="2875136" cy="77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Modeling - XGBoost,</a:t>
            </a:r>
          </a:p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Neural Network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07957" y="7319807"/>
            <a:ext cx="3145706" cy="77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Model Evaluation and </a:t>
            </a:r>
          </a:p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Improvement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133726" y="5352616"/>
            <a:ext cx="1824781" cy="116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EFEFED"/>
                </a:solidFill>
                <a:latin typeface="Klein Bold"/>
                <a:ea typeface="Klein Bold"/>
                <a:cs typeface="Klein Bold"/>
                <a:sym typeface="Klein Bold"/>
              </a:rPr>
              <a:t>Business Impact /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4995" y="3667006"/>
            <a:ext cx="19917988" cy="2778544"/>
            <a:chOff x="0" y="-47625"/>
            <a:chExt cx="5245890" cy="7317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90" cy="684173"/>
            </a:xfrm>
            <a:custGeom>
              <a:avLst/>
              <a:gdLst/>
              <a:ahLst/>
              <a:cxnLst/>
              <a:rect l="l" t="t" r="r" b="b"/>
              <a:pathLst>
                <a:path w="5245890" h="684173">
                  <a:moveTo>
                    <a:pt x="0" y="0"/>
                  </a:moveTo>
                  <a:lnTo>
                    <a:pt x="5245890" y="0"/>
                  </a:lnTo>
                  <a:lnTo>
                    <a:pt x="5245890" y="684173"/>
                  </a:lnTo>
                  <a:lnTo>
                    <a:pt x="0" y="684173"/>
                  </a:lnTo>
                  <a:close/>
                </a:path>
              </a:pathLst>
            </a:custGeom>
            <a:solidFill>
              <a:srgbClr val="EFEF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90" cy="731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324439" y="4557932"/>
            <a:ext cx="18936875" cy="117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66"/>
              </a:lnSpc>
              <a:spcBef>
                <a:spcPct val="0"/>
              </a:spcBef>
            </a:pPr>
            <a:r>
              <a:rPr lang="en-US" sz="7615" dirty="0">
                <a:solidFill>
                  <a:srgbClr val="007FFF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BUSINESS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276616"/>
            <a:ext cx="7315200" cy="2184454"/>
          </a:xfrm>
          <a:custGeom>
            <a:avLst/>
            <a:gdLst/>
            <a:ahLst/>
            <a:cxnLst/>
            <a:rect l="l" t="t" r="r" b="b"/>
            <a:pathLst>
              <a:path w="7315200" h="2184454">
                <a:moveTo>
                  <a:pt x="0" y="0"/>
                </a:moveTo>
                <a:lnTo>
                  <a:pt x="7315200" y="0"/>
                </a:lnTo>
                <a:lnTo>
                  <a:pt x="7315200" y="2184454"/>
                </a:lnTo>
                <a:lnTo>
                  <a:pt x="0" y="2184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9931" y="6196960"/>
            <a:ext cx="3968842" cy="354653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760124" y="825930"/>
            <a:ext cx="10767752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dirty="0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BACKGROUND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2552700"/>
            <a:ext cx="6761976" cy="297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8"/>
              </a:lnSpc>
              <a:spcBef>
                <a:spcPct val="0"/>
              </a:spcBef>
            </a:pPr>
            <a:r>
              <a:rPr lang="en-US" sz="2062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​</a:t>
            </a:r>
          </a:p>
          <a:p>
            <a:pPr marL="531731" lvl="1" indent="-265865">
              <a:lnSpc>
                <a:spcPts val="3448"/>
              </a:lnSpc>
              <a:spcBef>
                <a:spcPct val="0"/>
              </a:spcBef>
              <a:buFont typeface="Arial"/>
              <a:buChar char="•"/>
            </a:pPr>
            <a:r>
              <a:rPr lang="en-US" sz="2462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We are a group of data scientists that want to help a business understand whether they should send coupons to certain customers while they are driving. ​</a:t>
            </a:r>
          </a:p>
          <a:p>
            <a:pPr algn="l">
              <a:lnSpc>
                <a:spcPts val="3448"/>
              </a:lnSpc>
              <a:spcBef>
                <a:spcPct val="0"/>
              </a:spcBef>
            </a:pPr>
            <a:endParaRPr lang="en-US" sz="2462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77400" y="2937001"/>
            <a:ext cx="7329585" cy="267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138" lvl="1" indent="-266569">
              <a:lnSpc>
                <a:spcPts val="3457"/>
              </a:lnSpc>
              <a:buFont typeface="Arial"/>
              <a:buChar char="•"/>
            </a:pPr>
            <a:r>
              <a:rPr lang="en-US" sz="2469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The dataset uses real world features to decide whether or not a coupon should be sent out.</a:t>
            </a:r>
          </a:p>
          <a:p>
            <a:pPr marL="266569" lvl="1">
              <a:lnSpc>
                <a:spcPts val="3457"/>
              </a:lnSpc>
            </a:pPr>
            <a:endParaRPr lang="en-US" sz="2469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marL="533138" lvl="1" indent="-266569">
              <a:lnSpc>
                <a:spcPts val="3457"/>
              </a:lnSpc>
              <a:buFont typeface="Arial"/>
              <a:buChar char="•"/>
            </a:pPr>
            <a:r>
              <a:rPr lang="en-US" sz="2469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Features include time of day, weather, location, driver characteristics, and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34282" y="427669"/>
            <a:ext cx="13819436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dirty="0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WHY IT MATTERS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73604" y="1891679"/>
            <a:ext cx="5702578" cy="435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endParaRPr/>
          </a:p>
          <a:p>
            <a:pPr marL="531116" lvl="1" indent="-265558" algn="l">
              <a:lnSpc>
                <a:spcPts val="3936"/>
              </a:lnSpc>
              <a:buFont typeface="Arial"/>
              <a:buChar char="•"/>
            </a:pP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Companies can develop</a:t>
            </a:r>
            <a:r>
              <a:rPr lang="en-US" sz="246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 more personalized and effective coupons </a:t>
            </a: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by analyzing the data. ​</a:t>
            </a:r>
          </a:p>
          <a:p>
            <a:pPr marL="531116" lvl="1" indent="-265558" algn="l">
              <a:lnSpc>
                <a:spcPts val="3936"/>
              </a:lnSpc>
              <a:buFont typeface="Arial"/>
              <a:buChar char="•"/>
            </a:pP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Knowing which customers will use the coupons allows the business to </a:t>
            </a:r>
            <a:r>
              <a:rPr lang="en-US" sz="246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save advertising money and generate more business. ​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7209169"/>
            <a:ext cx="7541064" cy="2251901"/>
          </a:xfrm>
          <a:custGeom>
            <a:avLst/>
            <a:gdLst/>
            <a:ahLst/>
            <a:cxnLst/>
            <a:rect l="l" t="t" r="r" b="b"/>
            <a:pathLst>
              <a:path w="7541064" h="2251901">
                <a:moveTo>
                  <a:pt x="0" y="0"/>
                </a:moveTo>
                <a:lnTo>
                  <a:pt x="7541064" y="0"/>
                </a:lnTo>
                <a:lnTo>
                  <a:pt x="7541064" y="2251901"/>
                </a:lnTo>
                <a:lnTo>
                  <a:pt x="0" y="225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062457" y="2144325"/>
            <a:ext cx="5702578" cy="286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endParaRPr/>
          </a:p>
          <a:p>
            <a:pPr marL="531116" lvl="1" indent="-265558" algn="l">
              <a:lnSpc>
                <a:spcPts val="3936"/>
              </a:lnSpc>
              <a:buFont typeface="Arial"/>
              <a:buChar char="•"/>
            </a:pP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With the rise of connected cars and location-based promotions via rideshare or navigation apps, there is a lot of </a:t>
            </a:r>
            <a:r>
              <a:rPr lang="en-US" sz="246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opportunity for this type of research</a:t>
            </a: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62457" y="5339853"/>
            <a:ext cx="6168263" cy="90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7"/>
              </a:lnSpc>
            </a:pPr>
            <a:r>
              <a:rPr lang="en-US" sz="5276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Who Benefits?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95300" y="6205923"/>
            <a:ext cx="5702578" cy="334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8"/>
              </a:lnSpc>
              <a:spcBef>
                <a:spcPct val="0"/>
              </a:spcBef>
            </a:pPr>
            <a:endParaRPr/>
          </a:p>
          <a:p>
            <a:pPr marL="531116" lvl="1" indent="-265558" algn="l">
              <a:lnSpc>
                <a:spcPts val="3444"/>
              </a:lnSpc>
              <a:spcBef>
                <a:spcPct val="0"/>
              </a:spcBef>
              <a:buFont typeface="Arial"/>
              <a:buChar char="•"/>
            </a:pPr>
            <a:r>
              <a:rPr lang="en-US" sz="246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Shareholders </a:t>
            </a: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can make more money.</a:t>
            </a:r>
          </a:p>
          <a:p>
            <a:pPr marL="531116" lvl="1" indent="-265558" algn="l">
              <a:lnSpc>
                <a:spcPts val="3444"/>
              </a:lnSpc>
              <a:spcBef>
                <a:spcPct val="0"/>
              </a:spcBef>
              <a:buFont typeface="Arial"/>
              <a:buChar char="•"/>
            </a:pPr>
            <a:r>
              <a:rPr lang="en-US" sz="246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Customers </a:t>
            </a: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get more relevant coupons for their shopping habits.</a:t>
            </a:r>
          </a:p>
          <a:p>
            <a:pPr marL="531116" lvl="1" indent="-265558" algn="l">
              <a:lnSpc>
                <a:spcPts val="3444"/>
              </a:lnSpc>
              <a:buFont typeface="Arial"/>
              <a:buChar char="•"/>
            </a:pP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The </a:t>
            </a:r>
            <a:r>
              <a:rPr lang="en-US" sz="246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company </a:t>
            </a:r>
            <a:r>
              <a:rPr lang="en-US" sz="246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spends less money on advertising.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50795" y="4484253"/>
            <a:ext cx="7108505" cy="333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7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</a:t>
            </a:r>
            <a:r>
              <a:rPr lang="en-US" sz="3000" u="none" strike="noStrike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onduct a </a:t>
            </a:r>
            <a:r>
              <a:rPr lang="en-US" sz="3000" b="1" u="none" strike="noStrike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binary classification</a:t>
            </a:r>
            <a:r>
              <a:rPr lang="en-US" sz="3000" u="none" strike="noStrike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problem to predict whether a coupon is accepted (Yes/No) given a set of features related to </a:t>
            </a:r>
            <a:r>
              <a:rPr lang="en-US" sz="3000" b="1" u="none" strike="noStrike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customer, driving, and coupon attributes</a:t>
            </a:r>
            <a:r>
              <a:rPr lang="en-US" sz="3000" u="none" strike="noStrike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. 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367681"/>
            <a:ext cx="7525226" cy="469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0"/>
              </a:lnSpc>
            </a:pP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What</a:t>
            </a:r>
            <a:r>
              <a:rPr lang="en-US" sz="3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types of customers, coupons, and driving conditions are most effective for </a:t>
            </a:r>
            <a:r>
              <a:rPr lang="en-US" sz="3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predicting acceptance</a:t>
            </a:r>
          </a:p>
          <a:p>
            <a:pPr marL="0" lvl="0" indent="0" algn="ctr">
              <a:lnSpc>
                <a:spcPts val="537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of in-vehicle coupon promotions</a:t>
            </a: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, and how can we utilize these insights to </a:t>
            </a:r>
            <a:r>
              <a:rPr lang="en-US" sz="3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improve future advertising / marketing initiatives</a:t>
            </a: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03384" y="3640338"/>
            <a:ext cx="302048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64129" y="3640338"/>
            <a:ext cx="302048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181" y="309995"/>
            <a:ext cx="15799638" cy="261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4"/>
              </a:lnSpc>
              <a:spcBef>
                <a:spcPct val="0"/>
              </a:spcBef>
            </a:pPr>
            <a:r>
              <a:rPr lang="en-US" sz="7499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BUSINESS </a:t>
            </a:r>
            <a:r>
              <a:rPr lang="en-US" sz="7499" u="none" strike="noStrike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PROBLEM &amp; </a:t>
            </a:r>
          </a:p>
          <a:p>
            <a:pPr marL="0" lvl="0" indent="0" algn="ctr">
              <a:lnSpc>
                <a:spcPts val="10574"/>
              </a:lnSpc>
              <a:spcBef>
                <a:spcPct val="0"/>
              </a:spcBef>
            </a:pPr>
            <a:r>
              <a:rPr lang="en-US" sz="7499" u="none" strike="noStrike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ML SOLUTION</a:t>
            </a:r>
          </a:p>
        </p:txBody>
      </p:sp>
      <p:sp>
        <p:nvSpPr>
          <p:cNvPr id="7" name="AutoShape 7"/>
          <p:cNvSpPr/>
          <p:nvPr/>
        </p:nvSpPr>
        <p:spPr>
          <a:xfrm flipH="1" flipV="1">
            <a:off x="9124950" y="4461920"/>
            <a:ext cx="0" cy="4682607"/>
          </a:xfrm>
          <a:prstGeom prst="line">
            <a:avLst/>
          </a:prstGeom>
          <a:ln w="38100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8998" y="1013918"/>
            <a:ext cx="14070004" cy="123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52"/>
              </a:lnSpc>
            </a:pPr>
            <a:r>
              <a:rPr lang="en-US" sz="720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DATA UNDERSTANDING</a:t>
            </a:r>
          </a:p>
        </p:txBody>
      </p:sp>
      <p:sp>
        <p:nvSpPr>
          <p:cNvPr id="3" name="AutoShape 3"/>
          <p:cNvSpPr/>
          <p:nvPr/>
        </p:nvSpPr>
        <p:spPr>
          <a:xfrm>
            <a:off x="1046036" y="5150081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332916" y="5150081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2455610" y="5150081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25804" y="2250643"/>
            <a:ext cx="3766388" cy="1519318"/>
            <a:chOff x="0" y="-101233"/>
            <a:chExt cx="1245841" cy="5025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45841" cy="359683"/>
            </a:xfrm>
            <a:custGeom>
              <a:avLst/>
              <a:gdLst/>
              <a:ahLst/>
              <a:cxnLst/>
              <a:rect l="l" t="t" r="r" b="b"/>
              <a:pathLst>
                <a:path w="1245841" h="359683">
                  <a:moveTo>
                    <a:pt x="0" y="0"/>
                  </a:moveTo>
                  <a:lnTo>
                    <a:pt x="1042641" y="0"/>
                  </a:lnTo>
                  <a:lnTo>
                    <a:pt x="1245841" y="179842"/>
                  </a:lnTo>
                  <a:lnTo>
                    <a:pt x="1042641" y="359683"/>
                  </a:lnTo>
                  <a:lnTo>
                    <a:pt x="0" y="359683"/>
                  </a:lnTo>
                  <a:lnTo>
                    <a:pt x="203200" y="1798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7362" y="-101233"/>
              <a:ext cx="991841" cy="502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03"/>
                </a:lnSpc>
              </a:pPr>
              <a:r>
                <a:rPr lang="en-US" sz="2199" dirty="0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UCI Repository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774697" y="5791154"/>
            <a:ext cx="4068857" cy="110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Categorical Variables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: 23</a:t>
            </a:r>
          </a:p>
          <a:p>
            <a:pPr algn="l">
              <a:lnSpc>
                <a:spcPts val="4549"/>
              </a:lnSpc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Numeric Variables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: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52004" y="5505404"/>
            <a:ext cx="4068857" cy="16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Target variable: Y</a:t>
            </a:r>
          </a:p>
          <a:p>
            <a:pPr algn="l">
              <a:lnSpc>
                <a:spcPts val="4549"/>
              </a:lnSpc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⟶ if the driver accepts the coupon (1=Yes, 0=No​)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5123" y="5791154"/>
            <a:ext cx="4201398" cy="110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Total Instances: 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12,684</a:t>
            </a:r>
          </a:p>
          <a:p>
            <a:pPr algn="l">
              <a:lnSpc>
                <a:spcPts val="4549"/>
              </a:lnSpc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Features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: 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45043" y="2458504"/>
            <a:ext cx="9397914" cy="110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Collected via </a:t>
            </a: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survey 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from </a:t>
            </a: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Amazon Mechanical Turk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to observe consumer responses in </a:t>
            </a: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different driving scenarios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E28AB0-ACDA-5248-10D7-BD7AE655F672}"/>
              </a:ext>
            </a:extLst>
          </p:cNvPr>
          <p:cNvSpPr/>
          <p:nvPr/>
        </p:nvSpPr>
        <p:spPr>
          <a:xfrm>
            <a:off x="6412" y="9463636"/>
            <a:ext cx="18281588" cy="820844"/>
          </a:xfrm>
          <a:prstGeom prst="rect">
            <a:avLst/>
          </a:prstGeom>
          <a:solidFill>
            <a:srgbClr val="007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3902" y="685838"/>
            <a:ext cx="12420197" cy="281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80"/>
              </a:lnSpc>
            </a:pPr>
            <a:r>
              <a:rPr lang="en-US" sz="800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RELEVANT VARIABLES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618" y="4443719"/>
            <a:ext cx="3238873" cy="50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Driver Demographics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21158" y="4428250"/>
            <a:ext cx="3822842" cy="50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Coupon Characteristics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07314" y="4443719"/>
            <a:ext cx="3238873" cy="50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Directional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07314" y="5284083"/>
            <a:ext cx="4068857" cy="1484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Direction_same​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Direction_opposite</a:t>
            </a:r>
          </a:p>
          <a:p>
            <a:pPr algn="l">
              <a:lnSpc>
                <a:spcPts val="4003"/>
              </a:lnSpc>
            </a:pPr>
            <a:endParaRPr lang="en-US" sz="21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198150" y="5284083"/>
            <a:ext cx="4068857" cy="19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Coupon type​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Expiration​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Visitor frequency​</a:t>
            </a:r>
          </a:p>
          <a:p>
            <a:pPr algn="l">
              <a:lnSpc>
                <a:spcPts val="4003"/>
              </a:lnSpc>
            </a:pPr>
            <a:endParaRPr lang="en-US" sz="21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04626" y="5284083"/>
            <a:ext cx="4068857" cy="299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Age​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Gender​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Marital Status​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Education​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Income​</a:t>
            </a:r>
          </a:p>
          <a:p>
            <a:pPr algn="l">
              <a:lnSpc>
                <a:spcPts val="4003"/>
              </a:lnSpc>
            </a:pPr>
            <a:endParaRPr lang="en-US" sz="21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81413" y="5073920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5097320" y="5073920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4059676" y="5073920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9543144" y="5073920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766982" y="5284083"/>
            <a:ext cx="4068857" cy="299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Weather​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Temperature​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Time​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Destination​</a:t>
            </a:r>
          </a:p>
          <a:p>
            <a:pPr marL="474979" lvl="1" indent="-237490" algn="l">
              <a:lnSpc>
                <a:spcPts val="400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Passenger</a:t>
            </a:r>
          </a:p>
          <a:p>
            <a:pPr algn="l">
              <a:lnSpc>
                <a:spcPts val="4003"/>
              </a:lnSpc>
            </a:pPr>
            <a:endParaRPr lang="en-US" sz="21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181974" y="4443719"/>
            <a:ext cx="3238873" cy="50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Driving Conditions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890355" y="9118532"/>
            <a:ext cx="6492240" cy="0"/>
          </a:xfrm>
          <a:prstGeom prst="line">
            <a:avLst/>
          </a:prstGeom>
          <a:ln w="285750" cap="flat">
            <a:solidFill>
              <a:srgbClr val="00357A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92419"/>
            <a:ext cx="16230600" cy="568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5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Many categorical variables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in this dataset (23) ⟶ can </a:t>
            </a: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increase dimensionality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Klein Bold"/>
              <a:ea typeface="Klein Bold"/>
              <a:cs typeface="Klein Bold"/>
              <a:sym typeface="Klein Bold"/>
            </a:endParaRPr>
          </a:p>
          <a:p>
            <a:pPr marL="539749" lvl="1" indent="-269875" algn="l">
              <a:lnSpc>
                <a:spcPts val="45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Missing values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for variables related to frequency and behavior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Coffeehouse visit frequency, Bar visit frequency, etc. ​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May lead to higher bias and restrict regression analysis​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marL="539749" lvl="1" indent="-269875" algn="l">
              <a:lnSpc>
                <a:spcPts val="45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Potential noise</a:t>
            </a: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from </a:t>
            </a: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self-reported variables​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Visit frequency, destination, passenger, etc. ​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Reports could be inaccurate and skew the data ​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944100" y="7165425"/>
            <a:ext cx="7315200" cy="2414137"/>
          </a:xfrm>
          <a:custGeom>
            <a:avLst/>
            <a:gdLst/>
            <a:ahLst/>
            <a:cxnLst/>
            <a:rect l="l" t="t" r="r" b="b"/>
            <a:pathLst>
              <a:path w="7315200" h="2414137">
                <a:moveTo>
                  <a:pt x="0" y="0"/>
                </a:moveTo>
                <a:lnTo>
                  <a:pt x="7315200" y="0"/>
                </a:lnTo>
                <a:lnTo>
                  <a:pt x="7315200" y="2414138"/>
                </a:lnTo>
                <a:lnTo>
                  <a:pt x="0" y="241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408296" y="689147"/>
            <a:ext cx="13471409" cy="1386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80"/>
              </a:lnSpc>
            </a:pPr>
            <a:r>
              <a:rPr lang="en-US" sz="800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POTENTIAL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4994" y="3583872"/>
            <a:ext cx="19917988" cy="2778544"/>
            <a:chOff x="0" y="-47625"/>
            <a:chExt cx="5245890" cy="7317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90" cy="684173"/>
            </a:xfrm>
            <a:custGeom>
              <a:avLst/>
              <a:gdLst/>
              <a:ahLst/>
              <a:cxnLst/>
              <a:rect l="l" t="t" r="r" b="b"/>
              <a:pathLst>
                <a:path w="5245890" h="684173">
                  <a:moveTo>
                    <a:pt x="0" y="0"/>
                  </a:moveTo>
                  <a:lnTo>
                    <a:pt x="5245890" y="0"/>
                  </a:lnTo>
                  <a:lnTo>
                    <a:pt x="5245890" y="684173"/>
                  </a:lnTo>
                  <a:lnTo>
                    <a:pt x="0" y="684173"/>
                  </a:lnTo>
                  <a:close/>
                </a:path>
              </a:pathLst>
            </a:custGeom>
            <a:solidFill>
              <a:srgbClr val="EFEF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90" cy="731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324437" y="3878353"/>
            <a:ext cx="18936875" cy="2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58"/>
              </a:lnSpc>
              <a:spcBef>
                <a:spcPct val="0"/>
              </a:spcBef>
            </a:pPr>
            <a:r>
              <a:rPr lang="en-US" sz="8015">
                <a:solidFill>
                  <a:srgbClr val="007FFF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77600" y="3431238"/>
            <a:ext cx="6518817" cy="641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2400" b="1" dirty="0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Why is this significant to our analysis?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More customers accepted coupons than declined.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The 43% who rejected coupons remain an important segment to target.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The split between acceptance and rejection shows the target variable is not significantly imbalanced.</a:t>
            </a:r>
          </a:p>
          <a:p>
            <a:pPr algn="l">
              <a:lnSpc>
                <a:spcPts val="5112"/>
              </a:lnSpc>
            </a:pPr>
            <a:endParaRPr lang="en-US" sz="2400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5112"/>
              </a:lnSpc>
            </a:pPr>
            <a:endParaRPr lang="en-US" sz="2400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3018980"/>
            <a:ext cx="10714846" cy="7268020"/>
          </a:xfrm>
          <a:custGeom>
            <a:avLst/>
            <a:gdLst/>
            <a:ahLst/>
            <a:cxnLst/>
            <a:rect l="l" t="t" r="r" b="b"/>
            <a:pathLst>
              <a:path w="10714846" h="7268020">
                <a:moveTo>
                  <a:pt x="0" y="0"/>
                </a:moveTo>
                <a:lnTo>
                  <a:pt x="10714846" y="0"/>
                </a:lnTo>
                <a:lnTo>
                  <a:pt x="10714846" y="7268020"/>
                </a:lnTo>
                <a:lnTo>
                  <a:pt x="0" y="7268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632" b="-96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18498" y="371030"/>
            <a:ext cx="14851004" cy="237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000" dirty="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WERE MOST COUPONS ACCEPTED?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778928"/>
            <a:ext cx="8788935" cy="7338952"/>
          </a:xfrm>
          <a:custGeom>
            <a:avLst/>
            <a:gdLst/>
            <a:ahLst/>
            <a:cxnLst/>
            <a:rect l="l" t="t" r="r" b="b"/>
            <a:pathLst>
              <a:path w="8788935" h="7338952">
                <a:moveTo>
                  <a:pt x="0" y="0"/>
                </a:moveTo>
                <a:lnTo>
                  <a:pt x="8788935" y="0"/>
                </a:lnTo>
                <a:lnTo>
                  <a:pt x="8788935" y="7338952"/>
                </a:lnTo>
                <a:lnTo>
                  <a:pt x="0" y="7338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25892" y="130978"/>
            <a:ext cx="15836216" cy="237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000" dirty="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WHICH COUPONS WERE MOST ACCEPTED?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00575" y="3132561"/>
            <a:ext cx="6518817" cy="641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2400" b="1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What does this mean for our analysis?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Food-related coupons are more appealing to customers.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Restaurant, Coffee House, and Takeaway coupons show higher acceptance rates.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Customers are more responsive to everyday-use food incentives.</a:t>
            </a:r>
          </a:p>
          <a:p>
            <a:pPr algn="l">
              <a:lnSpc>
                <a:spcPts val="5112"/>
              </a:lnSpc>
            </a:pPr>
            <a:endParaRPr lang="en-US" sz="240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5112"/>
              </a:lnSpc>
            </a:pPr>
            <a:endParaRPr lang="en-US" sz="240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7771" y="2933700"/>
            <a:ext cx="10587569" cy="6479372"/>
          </a:xfrm>
          <a:custGeom>
            <a:avLst/>
            <a:gdLst/>
            <a:ahLst/>
            <a:cxnLst/>
            <a:rect l="l" t="t" r="r" b="b"/>
            <a:pathLst>
              <a:path w="10587569" h="6479372">
                <a:moveTo>
                  <a:pt x="0" y="0"/>
                </a:moveTo>
                <a:lnTo>
                  <a:pt x="10587569" y="0"/>
                </a:lnTo>
                <a:lnTo>
                  <a:pt x="10587569" y="6479372"/>
                </a:lnTo>
                <a:lnTo>
                  <a:pt x="0" y="647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7771" y="130978"/>
            <a:ext cx="17252459" cy="237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000" dirty="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WHEN ARE CUSTOMERS MOST LIKELY TO ACCEPT?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06200" y="3630656"/>
            <a:ext cx="6518817" cy="576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2400" b="1" dirty="0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What does this mean for our analysis?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Time of day influences customer interest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Acceptance increases in the afternoon and early evening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Timing promotions correctly can boost engagement</a:t>
            </a:r>
          </a:p>
          <a:p>
            <a:pPr algn="l">
              <a:lnSpc>
                <a:spcPts val="5112"/>
              </a:lnSpc>
            </a:pPr>
            <a:r>
              <a:rPr lang="en-US" sz="24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</a:p>
          <a:p>
            <a:pPr algn="l">
              <a:lnSpc>
                <a:spcPts val="5112"/>
              </a:lnSpc>
            </a:pPr>
            <a:endParaRPr lang="en-US" sz="2400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8112" y="3619223"/>
            <a:ext cx="10689645" cy="5318098"/>
          </a:xfrm>
          <a:custGeom>
            <a:avLst/>
            <a:gdLst/>
            <a:ahLst/>
            <a:cxnLst/>
            <a:rect l="l" t="t" r="r" b="b"/>
            <a:pathLst>
              <a:path w="10689645" h="5318098">
                <a:moveTo>
                  <a:pt x="0" y="0"/>
                </a:moveTo>
                <a:lnTo>
                  <a:pt x="10689645" y="0"/>
                </a:lnTo>
                <a:lnTo>
                  <a:pt x="10689645" y="5318098"/>
                </a:lnTo>
                <a:lnTo>
                  <a:pt x="0" y="5318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7771" y="130978"/>
            <a:ext cx="17252459" cy="237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000" dirty="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ACCEPTANCE RATE ACROSS TYPES AND TIMES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61305" y="3409673"/>
            <a:ext cx="6518817" cy="5510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300" b="1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What does this mean for our analysis?</a:t>
            </a:r>
          </a:p>
          <a:p>
            <a:pPr marL="496571" lvl="1" indent="-248285" algn="l">
              <a:lnSpc>
                <a:spcPts val="4899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Different coupon types peak at different times ⟶  affects performance </a:t>
            </a:r>
          </a:p>
          <a:p>
            <a:pPr marL="496571" lvl="1" indent="-248285" algn="l">
              <a:lnSpc>
                <a:spcPts val="4899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Food coupons peak at lunch and early evening</a:t>
            </a:r>
          </a:p>
          <a:p>
            <a:pPr marL="496571" lvl="1" indent="-248285" algn="l">
              <a:lnSpc>
                <a:spcPts val="4899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Coffee House coupons peak in the morning</a:t>
            </a:r>
          </a:p>
          <a:p>
            <a:pPr marL="496571" lvl="1" indent="-248285" algn="l">
              <a:lnSpc>
                <a:spcPts val="4899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Carry-out/Takeaway performs strongly throughout the day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046" y="2953381"/>
            <a:ext cx="11301259" cy="6229819"/>
          </a:xfrm>
          <a:custGeom>
            <a:avLst/>
            <a:gdLst/>
            <a:ahLst/>
            <a:cxnLst/>
            <a:rect l="l" t="t" r="r" b="b"/>
            <a:pathLst>
              <a:path w="11301259" h="6229819">
                <a:moveTo>
                  <a:pt x="0" y="0"/>
                </a:moveTo>
                <a:lnTo>
                  <a:pt x="11301259" y="0"/>
                </a:lnTo>
                <a:lnTo>
                  <a:pt x="11301259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7771" y="130978"/>
            <a:ext cx="17252459" cy="237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000" dirty="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WHO ACCEPTS COUPONS MORE OFTEN?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10662" y="3400148"/>
            <a:ext cx="6518817" cy="446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2400" b="1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What does this mean for our analysis?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Social context affects decisions.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Customers with friends accept more often.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Those alone or with children accept less.</a:t>
            </a:r>
          </a:p>
          <a:p>
            <a:pPr algn="l">
              <a:lnSpc>
                <a:spcPts val="5112"/>
              </a:lnSpc>
            </a:pPr>
            <a:endParaRPr lang="en-US" sz="240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1686" y="3002534"/>
            <a:ext cx="10491852" cy="6255766"/>
          </a:xfrm>
          <a:custGeom>
            <a:avLst/>
            <a:gdLst/>
            <a:ahLst/>
            <a:cxnLst/>
            <a:rect l="l" t="t" r="r" b="b"/>
            <a:pathLst>
              <a:path w="10491852" h="6255766">
                <a:moveTo>
                  <a:pt x="0" y="0"/>
                </a:moveTo>
                <a:lnTo>
                  <a:pt x="10491851" y="0"/>
                </a:lnTo>
                <a:lnTo>
                  <a:pt x="10491851" y="6255766"/>
                </a:lnTo>
                <a:lnTo>
                  <a:pt x="0" y="625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7771" y="130978"/>
            <a:ext cx="17252459" cy="237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000" dirty="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DOES INCOME INFLUENCE ACCEPTANCE?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20922" y="3011039"/>
            <a:ext cx="6518817" cy="706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2400" b="1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What does this mean for our analysis?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Lower-income customers show high acceptance rates.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Acceptance dips among middle-income groups.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Acceptance rises again for higher-income ranges.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Income influences responsiveness, but not in a linear pattern.</a:t>
            </a:r>
          </a:p>
          <a:p>
            <a:pPr algn="l">
              <a:lnSpc>
                <a:spcPts val="5112"/>
              </a:lnSpc>
            </a:pPr>
            <a:endParaRPr lang="en-US" sz="240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5112"/>
              </a:lnSpc>
            </a:pPr>
            <a:endParaRPr lang="en-US" sz="240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4994" y="3535026"/>
            <a:ext cx="19917988" cy="2778544"/>
            <a:chOff x="0" y="-47625"/>
            <a:chExt cx="5245890" cy="7317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90" cy="684173"/>
            </a:xfrm>
            <a:custGeom>
              <a:avLst/>
              <a:gdLst/>
              <a:ahLst/>
              <a:cxnLst/>
              <a:rect l="l" t="t" r="r" b="b"/>
              <a:pathLst>
                <a:path w="5245890" h="684173">
                  <a:moveTo>
                    <a:pt x="0" y="0"/>
                  </a:moveTo>
                  <a:lnTo>
                    <a:pt x="5245890" y="0"/>
                  </a:lnTo>
                  <a:lnTo>
                    <a:pt x="5245890" y="684173"/>
                  </a:lnTo>
                  <a:lnTo>
                    <a:pt x="0" y="684173"/>
                  </a:lnTo>
                  <a:close/>
                </a:path>
              </a:pathLst>
            </a:custGeom>
            <a:solidFill>
              <a:srgbClr val="EFEF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90" cy="731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324437" y="3790430"/>
            <a:ext cx="18936875" cy="2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58"/>
              </a:lnSpc>
              <a:spcBef>
                <a:spcPct val="0"/>
              </a:spcBef>
            </a:pPr>
            <a:r>
              <a:rPr lang="en-US" sz="8015">
                <a:solidFill>
                  <a:srgbClr val="007FFF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DATA PREPARATION &amp; MODELING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9894" y="6715237"/>
            <a:ext cx="2688890" cy="131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0"/>
              </a:lnSpc>
            </a:pP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74</a:t>
            </a:r>
            <a:r>
              <a:rPr lang="en-US" sz="2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duplicated rows dropped from dataset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894" y="4085820"/>
            <a:ext cx="2688890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Remove duplicate rows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4362" y="4968732"/>
            <a:ext cx="1419495" cy="153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07"/>
              </a:lnSpc>
              <a:spcBef>
                <a:spcPct val="0"/>
              </a:spcBef>
            </a:pPr>
            <a:r>
              <a:rPr lang="en-US" sz="8799" u="none" strike="noStrike">
                <a:solidFill>
                  <a:srgbClr val="007FFF"/>
                </a:solidFill>
                <a:latin typeface="Brice SemiExpanded Extra-Light"/>
                <a:ea typeface="Brice SemiExpanded Extra-Light"/>
                <a:cs typeface="Brice SemiExpanded Extra-Light"/>
                <a:sym typeface="Brice SemiExpanded Extra-Light"/>
              </a:rP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24609" y="6715237"/>
            <a:ext cx="2688890" cy="869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0"/>
              </a:lnSpc>
            </a:pPr>
            <a:r>
              <a:rPr lang="en-US" sz="2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ex. </a:t>
            </a: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Temperature </a:t>
            </a:r>
            <a:r>
              <a:rPr lang="en-US" sz="2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(pre-bucketed)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59629" y="4060420"/>
            <a:ext cx="3018852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Convert variables to categorical 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59307" y="4968732"/>
            <a:ext cx="1419495" cy="153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07"/>
              </a:lnSpc>
              <a:spcBef>
                <a:spcPct val="0"/>
              </a:spcBef>
            </a:pPr>
            <a:r>
              <a:rPr lang="en-US" sz="8799" u="none" strike="noStrike">
                <a:solidFill>
                  <a:srgbClr val="007FFF"/>
                </a:solidFill>
                <a:latin typeface="Brice SemiExpanded Extra-Light"/>
                <a:ea typeface="Brice SemiExpanded Extra-Light"/>
                <a:cs typeface="Brice SemiExpanded Extra-Light"/>
                <a:sym typeface="Brice SemiExpanded Extra-Light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76346" y="6715237"/>
            <a:ext cx="3135309" cy="2212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58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car</a:t>
            </a:r>
          </a:p>
          <a:p>
            <a:pPr marL="431801" lvl="1" indent="-215900" algn="l">
              <a:lnSpc>
                <a:spcPts val="358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direction_opp</a:t>
            </a:r>
          </a:p>
          <a:p>
            <a:pPr marL="431801" lvl="1" indent="-215900" algn="l">
              <a:lnSpc>
                <a:spcPts val="358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toCoupon_GEQ5min</a:t>
            </a:r>
          </a:p>
          <a:p>
            <a:pPr marL="431801" lvl="1" indent="-215900" algn="l">
              <a:lnSpc>
                <a:spcPts val="358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occupation</a:t>
            </a:r>
          </a:p>
          <a:p>
            <a:pPr marL="0" lvl="0" indent="0" algn="ctr">
              <a:lnSpc>
                <a:spcPts val="3580"/>
              </a:lnSpc>
            </a:pPr>
            <a:endParaRPr lang="en-US" sz="2000" b="1">
              <a:solidFill>
                <a:srgbClr val="000000"/>
              </a:solidFill>
              <a:latin typeface="Klein Bold"/>
              <a:ea typeface="Klein Bold"/>
              <a:cs typeface="Klein Bold"/>
              <a:sym typeface="Klei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782743" y="4060420"/>
            <a:ext cx="2688890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Drop unnecessary  columns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34253" y="4968732"/>
            <a:ext cx="1419495" cy="153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07"/>
              </a:lnSpc>
              <a:spcBef>
                <a:spcPct val="0"/>
              </a:spcBef>
            </a:pPr>
            <a:r>
              <a:rPr lang="en-US" sz="8799" u="none" strike="noStrike">
                <a:solidFill>
                  <a:srgbClr val="007FFF"/>
                </a:solidFill>
                <a:latin typeface="Brice SemiExpanded Extra-Light"/>
                <a:ea typeface="Brice SemiExpanded Extra-Light"/>
                <a:cs typeface="Brice SemiExpanded Extra-Light"/>
                <a:sym typeface="Brice SemiExpanded Extra-Light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74500" y="6715237"/>
            <a:ext cx="2688890" cy="131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0"/>
              </a:lnSpc>
            </a:pPr>
            <a:r>
              <a:rPr lang="en-US" sz="2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Use</a:t>
            </a: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 Simple Imputer</a:t>
            </a:r>
            <a:r>
              <a:rPr lang="en-US" sz="2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with strategy = </a:t>
            </a: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‘most_frequent’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5895" y="4060420"/>
            <a:ext cx="3086100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Impute missing values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09198" y="4968732"/>
            <a:ext cx="1419495" cy="153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07"/>
              </a:lnSpc>
              <a:spcBef>
                <a:spcPct val="0"/>
              </a:spcBef>
            </a:pPr>
            <a:r>
              <a:rPr lang="en-US" sz="8799" u="none" strike="noStrike">
                <a:solidFill>
                  <a:srgbClr val="007FFF"/>
                </a:solidFill>
                <a:latin typeface="Brice SemiExpanded Extra-Light"/>
                <a:ea typeface="Brice SemiExpanded Extra-Light"/>
                <a:cs typeface="Brice SemiExpanded Extra-Light"/>
                <a:sym typeface="Brice SemiExpanded Extra-Light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49446" y="6715237"/>
            <a:ext cx="2688890" cy="2212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Ordinal Encoder:</a:t>
            </a:r>
            <a:r>
              <a:rPr lang="en-US" sz="2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ordinal variables</a:t>
            </a:r>
          </a:p>
          <a:p>
            <a:pPr algn="ctr">
              <a:lnSpc>
                <a:spcPts val="3580"/>
              </a:lnSpc>
            </a:pPr>
            <a:endParaRPr lang="en-US" sz="200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marL="0" lvl="0" indent="0" algn="ctr">
              <a:lnSpc>
                <a:spcPts val="3580"/>
              </a:lnSpc>
            </a:pPr>
            <a:r>
              <a:rPr lang="en-US" sz="2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One Hot Encoder:</a:t>
            </a:r>
            <a:r>
              <a:rPr lang="en-US" sz="2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nominal variables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49446" y="4085820"/>
            <a:ext cx="2688890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Encode categorical variables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84144" y="4968732"/>
            <a:ext cx="1419495" cy="153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07"/>
              </a:lnSpc>
              <a:spcBef>
                <a:spcPct val="0"/>
              </a:spcBef>
            </a:pPr>
            <a:r>
              <a:rPr lang="en-US" sz="8799" u="none" strike="noStrike">
                <a:solidFill>
                  <a:srgbClr val="007FFF"/>
                </a:solidFill>
                <a:latin typeface="Brice SemiExpanded Extra-Light"/>
                <a:ea typeface="Brice SemiExpanded Extra-Light"/>
                <a:cs typeface="Brice SemiExpanded Extra-Light"/>
                <a:sym typeface="Brice SemiExpanded Extra-Light"/>
              </a:rPr>
              <a:t>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57062" y="479489"/>
            <a:ext cx="10973877" cy="229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65"/>
              </a:lnSpc>
              <a:spcBef>
                <a:spcPct val="0"/>
              </a:spcBef>
            </a:pPr>
            <a:r>
              <a:rPr lang="en-US" sz="6500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CLEANING AND PREPROCESSING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5F6E7F-FD4D-A63C-EA57-0775F0A9972C}"/>
              </a:ext>
            </a:extLst>
          </p:cNvPr>
          <p:cNvSpPr/>
          <p:nvPr/>
        </p:nvSpPr>
        <p:spPr>
          <a:xfrm>
            <a:off x="6412" y="9463636"/>
            <a:ext cx="18281588" cy="820844"/>
          </a:xfrm>
          <a:prstGeom prst="rect">
            <a:avLst/>
          </a:prstGeom>
          <a:solidFill>
            <a:srgbClr val="007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1707" y="2000755"/>
            <a:ext cx="12400701" cy="6346781"/>
            <a:chOff x="0" y="0"/>
            <a:chExt cx="3266028" cy="16715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66028" cy="1671580"/>
            </a:xfrm>
            <a:custGeom>
              <a:avLst/>
              <a:gdLst/>
              <a:ahLst/>
              <a:cxnLst/>
              <a:rect l="l" t="t" r="r" b="b"/>
              <a:pathLst>
                <a:path w="3266028" h="1671580">
                  <a:moveTo>
                    <a:pt x="0" y="0"/>
                  </a:moveTo>
                  <a:lnTo>
                    <a:pt x="3266028" y="0"/>
                  </a:lnTo>
                  <a:lnTo>
                    <a:pt x="3266028" y="1671580"/>
                  </a:lnTo>
                  <a:lnTo>
                    <a:pt x="0" y="167158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266028" cy="1719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73169" y="2628902"/>
            <a:ext cx="4580897" cy="1947658"/>
            <a:chOff x="0" y="-107098"/>
            <a:chExt cx="1206491" cy="5129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9091" cy="322463"/>
            </a:xfrm>
            <a:custGeom>
              <a:avLst/>
              <a:gdLst/>
              <a:ahLst/>
              <a:cxnLst/>
              <a:rect l="l" t="t" r="r" b="b"/>
              <a:pathLst>
                <a:path w="1189091" h="322463">
                  <a:moveTo>
                    <a:pt x="0" y="0"/>
                  </a:moveTo>
                  <a:lnTo>
                    <a:pt x="1189091" y="0"/>
                  </a:lnTo>
                  <a:lnTo>
                    <a:pt x="1189091" y="322463"/>
                  </a:lnTo>
                  <a:lnTo>
                    <a:pt x="0" y="322463"/>
                  </a:lnTo>
                  <a:close/>
                </a:path>
              </a:pathLst>
            </a:custGeom>
            <a:solidFill>
              <a:srgbClr val="EFEFED"/>
            </a:solidFill>
            <a:ln w="38100" cap="sq">
              <a:solidFill>
                <a:srgbClr val="00357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400" y="-107098"/>
              <a:ext cx="1189091" cy="51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000" b="1" i="1" dirty="0">
                  <a:solidFill>
                    <a:srgbClr val="000000"/>
                  </a:solidFill>
                  <a:latin typeface="Klein Bold Italics"/>
                  <a:ea typeface="Klein Bold Italics"/>
                  <a:cs typeface="Klein Bold Italics"/>
                  <a:sym typeface="Klein Bold Italics"/>
                </a:rPr>
                <a:t>XG Boost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73169" y="5618870"/>
            <a:ext cx="4667082" cy="1947658"/>
            <a:chOff x="0" y="-107652"/>
            <a:chExt cx="1229190" cy="5129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9091" cy="322463"/>
            </a:xfrm>
            <a:custGeom>
              <a:avLst/>
              <a:gdLst/>
              <a:ahLst/>
              <a:cxnLst/>
              <a:rect l="l" t="t" r="r" b="b"/>
              <a:pathLst>
                <a:path w="1189091" h="322463">
                  <a:moveTo>
                    <a:pt x="0" y="0"/>
                  </a:moveTo>
                  <a:lnTo>
                    <a:pt x="1189091" y="0"/>
                  </a:lnTo>
                  <a:lnTo>
                    <a:pt x="1189091" y="322463"/>
                  </a:lnTo>
                  <a:lnTo>
                    <a:pt x="0" y="322463"/>
                  </a:lnTo>
                  <a:close/>
                </a:path>
              </a:pathLst>
            </a:custGeom>
            <a:solidFill>
              <a:srgbClr val="EFEFED"/>
            </a:solidFill>
            <a:ln w="47625" cap="sq">
              <a:solidFill>
                <a:srgbClr val="00357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099" y="-107652"/>
              <a:ext cx="1189091" cy="51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000" b="1" i="1" dirty="0">
                  <a:solidFill>
                    <a:srgbClr val="000000"/>
                  </a:solidFill>
                  <a:latin typeface="Klein Bold Italics"/>
                  <a:ea typeface="Klein Bold Italics"/>
                  <a:cs typeface="Klein Bold Italics"/>
                  <a:sym typeface="Klein Bold Italics"/>
                </a:rPr>
                <a:t>Neural Network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2410346" y="3170318"/>
            <a:ext cx="1198215" cy="954797"/>
            <a:chOff x="0" y="0"/>
            <a:chExt cx="669386" cy="533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9386" cy="533400"/>
            </a:xfrm>
            <a:custGeom>
              <a:avLst/>
              <a:gdLst/>
              <a:ahLst/>
              <a:cxnLst/>
              <a:rect l="l" t="t" r="r" b="b"/>
              <a:pathLst>
                <a:path w="669386" h="533400">
                  <a:moveTo>
                    <a:pt x="239386" y="166418"/>
                  </a:moveTo>
                  <a:lnTo>
                    <a:pt x="669386" y="166418"/>
                  </a:lnTo>
                  <a:lnTo>
                    <a:pt x="669386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7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0650" y="117475"/>
              <a:ext cx="548736" cy="250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90445" y="2287944"/>
            <a:ext cx="10807455" cy="239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17"/>
              </a:lnSpc>
              <a:spcBef>
                <a:spcPct val="0"/>
              </a:spcBef>
            </a:pPr>
            <a:r>
              <a:rPr lang="en-US" sz="7963" dirty="0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BINARY CLASSIFICATION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0445" y="4924425"/>
            <a:ext cx="9704846" cy="2526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Supervised machine learning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Binary categorical target variable: Y (Yes: 1, No: 0)</a:t>
            </a:r>
          </a:p>
          <a:p>
            <a:pPr marL="518160" lvl="1" indent="-259080" algn="l">
              <a:lnSpc>
                <a:spcPts val="5112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Goal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: assign a given customer to one of two classes: accepted (1) or not accepted (0) a coupon</a:t>
            </a:r>
          </a:p>
        </p:txBody>
      </p:sp>
      <p:grpSp>
        <p:nvGrpSpPr>
          <p:cNvPr id="16" name="Group 16"/>
          <p:cNvGrpSpPr/>
          <p:nvPr/>
        </p:nvGrpSpPr>
        <p:grpSpPr>
          <a:xfrm rot="-10800000">
            <a:off x="12410346" y="6297168"/>
            <a:ext cx="1198215" cy="954797"/>
            <a:chOff x="0" y="0"/>
            <a:chExt cx="669386" cy="533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9386" cy="533400"/>
            </a:xfrm>
            <a:custGeom>
              <a:avLst/>
              <a:gdLst/>
              <a:ahLst/>
              <a:cxnLst/>
              <a:rect l="l" t="t" r="r" b="b"/>
              <a:pathLst>
                <a:path w="669386" h="533400">
                  <a:moveTo>
                    <a:pt x="239386" y="166418"/>
                  </a:moveTo>
                  <a:lnTo>
                    <a:pt x="669386" y="166418"/>
                  </a:lnTo>
                  <a:lnTo>
                    <a:pt x="669386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7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0650" y="117475"/>
              <a:ext cx="548736" cy="250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DBF88BE-74E3-0D12-4625-77C2264ABF9F}"/>
              </a:ext>
            </a:extLst>
          </p:cNvPr>
          <p:cNvSpPr/>
          <p:nvPr/>
        </p:nvSpPr>
        <p:spPr>
          <a:xfrm>
            <a:off x="6412" y="9463636"/>
            <a:ext cx="18281588" cy="820844"/>
          </a:xfrm>
          <a:prstGeom prst="rect">
            <a:avLst/>
          </a:prstGeom>
          <a:solidFill>
            <a:srgbClr val="007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50795" y="4484253"/>
            <a:ext cx="7108505" cy="333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53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I</a:t>
            </a:r>
            <a:r>
              <a:rPr lang="en-US" sz="3000" u="none" strike="noStrike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nspired by the human brain</a:t>
            </a:r>
          </a:p>
          <a:p>
            <a:pPr marL="647700" lvl="1" indent="-323850" algn="l">
              <a:lnSpc>
                <a:spcPts val="537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Learns </a:t>
            </a:r>
            <a:r>
              <a:rPr lang="en-US" sz="3000" b="1" u="none" strike="noStrike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complex, nonlinear patterns</a:t>
            </a:r>
            <a:r>
              <a:rPr lang="en-US" sz="3000" u="none" strike="noStrike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by passing information through multiple </a:t>
            </a:r>
            <a:r>
              <a:rPr lang="en-US" sz="3000" b="1" u="none" strike="noStrike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connected layers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367681"/>
            <a:ext cx="7525226" cy="401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53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Ensemble model</a:t>
            </a:r>
          </a:p>
          <a:p>
            <a:pPr marL="647700" lvl="1" indent="-323850" algn="l">
              <a:lnSpc>
                <a:spcPts val="53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Builds </a:t>
            </a:r>
            <a:r>
              <a:rPr lang="en-US" sz="3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multiple decision trees</a:t>
            </a: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3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sequentially </a:t>
            </a: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to make highly accurate predictions</a:t>
            </a:r>
          </a:p>
          <a:p>
            <a:pPr marL="647700" lvl="1" indent="-323850" algn="l">
              <a:lnSpc>
                <a:spcPts val="53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Effective for </a:t>
            </a:r>
            <a:r>
              <a:rPr lang="en-US" sz="3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large tabular datasets</a:t>
            </a:r>
            <a:r>
              <a:rPr lang="en-US" sz="30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with </a:t>
            </a:r>
            <a:r>
              <a:rPr lang="en-US" sz="30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many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03384" y="3640338"/>
            <a:ext cx="302048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b="1" u="sng" dirty="0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XG Boost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64129" y="3640338"/>
            <a:ext cx="302048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b="1" u="sng" dirty="0">
                <a:solidFill>
                  <a:srgbClr val="00357A"/>
                </a:solidFill>
                <a:latin typeface="Klein Bold"/>
                <a:ea typeface="Klein Bold"/>
                <a:cs typeface="Klein Bold"/>
                <a:sym typeface="Klein Bold"/>
              </a:rPr>
              <a:t>Neural Network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181" y="976745"/>
            <a:ext cx="1579963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4"/>
              </a:lnSpc>
              <a:spcBef>
                <a:spcPct val="0"/>
              </a:spcBef>
            </a:pPr>
            <a:r>
              <a:rPr lang="en-US" sz="7499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DATA SCIENCE MODELS</a:t>
            </a:r>
          </a:p>
        </p:txBody>
      </p:sp>
      <p:sp>
        <p:nvSpPr>
          <p:cNvPr id="7" name="AutoShape 7"/>
          <p:cNvSpPr/>
          <p:nvPr/>
        </p:nvSpPr>
        <p:spPr>
          <a:xfrm flipH="1" flipV="1">
            <a:off x="9124950" y="4461920"/>
            <a:ext cx="0" cy="4682607"/>
          </a:xfrm>
          <a:prstGeom prst="line">
            <a:avLst/>
          </a:prstGeom>
          <a:ln w="38100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33D65F-B86B-6E11-4327-C519EEEA6300}"/>
              </a:ext>
            </a:extLst>
          </p:cNvPr>
          <p:cNvSpPr/>
          <p:nvPr/>
        </p:nvSpPr>
        <p:spPr>
          <a:xfrm>
            <a:off x="6412" y="9463636"/>
            <a:ext cx="18281588" cy="820844"/>
          </a:xfrm>
          <a:prstGeom prst="rect">
            <a:avLst/>
          </a:prstGeom>
          <a:solidFill>
            <a:srgbClr val="007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82812" y="-6680832"/>
            <a:ext cx="28757412" cy="23648665"/>
            <a:chOff x="0" y="0"/>
            <a:chExt cx="38343216" cy="31531553"/>
          </a:xfrm>
        </p:grpSpPr>
        <p:grpSp>
          <p:nvGrpSpPr>
            <p:cNvPr id="3" name="Group 3"/>
            <p:cNvGrpSpPr/>
            <p:nvPr/>
          </p:nvGrpSpPr>
          <p:grpSpPr>
            <a:xfrm>
              <a:off x="3423758" y="13843167"/>
              <a:ext cx="26557317" cy="3463624"/>
              <a:chOff x="0" y="0"/>
              <a:chExt cx="5245890" cy="68417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245890" cy="684173"/>
              </a:xfrm>
              <a:custGeom>
                <a:avLst/>
                <a:gdLst/>
                <a:ahLst/>
                <a:cxnLst/>
                <a:rect l="l" t="t" r="r" b="b"/>
                <a:pathLst>
                  <a:path w="5245890" h="684173">
                    <a:moveTo>
                      <a:pt x="0" y="0"/>
                    </a:moveTo>
                    <a:lnTo>
                      <a:pt x="5245890" y="0"/>
                    </a:lnTo>
                    <a:lnTo>
                      <a:pt x="5245890" y="684173"/>
                    </a:lnTo>
                    <a:lnTo>
                      <a:pt x="0" y="684173"/>
                    </a:lnTo>
                    <a:close/>
                  </a:path>
                </a:pathLst>
              </a:custGeom>
              <a:solidFill>
                <a:srgbClr val="EFEF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245890" cy="731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983050" y="14636267"/>
              <a:ext cx="27438732" cy="22777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3522"/>
                </a:lnSpc>
                <a:spcBef>
                  <a:spcPct val="0"/>
                </a:spcBef>
              </a:pPr>
              <a:r>
                <a:rPr lang="en-US" sz="10994" dirty="0">
                  <a:solidFill>
                    <a:srgbClr val="007FFF"/>
                  </a:solidFill>
                  <a:latin typeface="Brice SemiExpanded Bold"/>
                  <a:ea typeface="Brice SemiExpanded Bold"/>
                  <a:cs typeface="Brice SemiExpanded Bold"/>
                  <a:sym typeface="Brice SemiExpanded Bold"/>
                </a:rPr>
                <a:t>XGBOOST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65643" y="448707"/>
            <a:ext cx="13356714" cy="137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300"/>
              </a:lnSpc>
            </a:pPr>
            <a:r>
              <a:rPr lang="en-US" sz="8014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XGBOOST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34098" y="2258291"/>
            <a:ext cx="1081980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Boosts many small decision trees to learn strong, accurate patterns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23871"/>
            <a:ext cx="8640462" cy="557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Pros: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High performance and speed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Reduces overfitting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with built-in regularization (L1/L2)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Performs well on tabular data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like coupon acceptance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Provides feature importance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for interpretation</a:t>
            </a:r>
          </a:p>
          <a:p>
            <a:pPr algn="l">
              <a:lnSpc>
                <a:spcPts val="3739"/>
              </a:lnSpc>
            </a:pPr>
            <a:endParaRPr lang="en-US" sz="21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3739"/>
              </a:lnSpc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Cons: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Less interpretable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than single decision trees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Complex hyperparameter tuning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for the optimal model 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Can overfit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even with regularization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Computationally heavier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compared to traditional models like logistic regression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046834" y="3393705"/>
            <a:ext cx="0" cy="5633834"/>
          </a:xfrm>
          <a:prstGeom prst="line">
            <a:avLst/>
          </a:prstGeom>
          <a:ln w="38100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427834" y="3279405"/>
            <a:ext cx="6621097" cy="466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22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What are some alternatives to </a:t>
            </a:r>
            <a:r>
              <a:rPr lang="en-US" sz="2200" b="1" dirty="0" err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XGBoost</a:t>
            </a:r>
            <a:r>
              <a:rPr lang="en-US" sz="22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?</a:t>
            </a:r>
          </a:p>
          <a:p>
            <a:pPr algn="l">
              <a:lnSpc>
                <a:spcPts val="3230"/>
              </a:lnSpc>
            </a:pPr>
            <a:r>
              <a:rPr lang="en-US" sz="19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Random Forest</a:t>
            </a:r>
          </a:p>
          <a:p>
            <a:pPr algn="l">
              <a:lnSpc>
                <a:spcPts val="3230"/>
              </a:lnSpc>
            </a:pPr>
            <a:r>
              <a:rPr lang="en-US" sz="190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CatBoost</a:t>
            </a:r>
            <a:endParaRPr lang="en-US" sz="1900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3230"/>
              </a:lnSpc>
            </a:pPr>
            <a:r>
              <a:rPr lang="en-US" sz="19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Support Vector Machines</a:t>
            </a:r>
          </a:p>
          <a:p>
            <a:pPr algn="l">
              <a:lnSpc>
                <a:spcPts val="3230"/>
              </a:lnSpc>
            </a:pPr>
            <a:r>
              <a:rPr lang="en-US" sz="19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Logistic Regression</a:t>
            </a:r>
          </a:p>
          <a:p>
            <a:pPr algn="l">
              <a:lnSpc>
                <a:spcPts val="3740"/>
              </a:lnSpc>
            </a:pPr>
            <a:endParaRPr lang="en-US" sz="1900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3740"/>
              </a:lnSpc>
            </a:pPr>
            <a:r>
              <a:rPr lang="en-US" sz="22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Our Findings:</a:t>
            </a:r>
          </a:p>
          <a:p>
            <a:pPr algn="l">
              <a:lnSpc>
                <a:spcPts val="3230"/>
              </a:lnSpc>
            </a:pPr>
            <a:r>
              <a:rPr lang="en-US" sz="19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Frequency at restaurants and consumer convenience (i.e. distance of restaurant/bar to use coupon, carryout type coupons) were the strongest predictors of whether a coupon would be accepted.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1710" y="457403"/>
            <a:ext cx="12144580" cy="6512531"/>
          </a:xfrm>
          <a:custGeom>
            <a:avLst/>
            <a:gdLst/>
            <a:ahLst/>
            <a:cxnLst/>
            <a:rect l="l" t="t" r="r" b="b"/>
            <a:pathLst>
              <a:path w="12144580" h="6512531">
                <a:moveTo>
                  <a:pt x="0" y="0"/>
                </a:moveTo>
                <a:lnTo>
                  <a:pt x="12144580" y="0"/>
                </a:lnTo>
                <a:lnTo>
                  <a:pt x="12144580" y="6512531"/>
                </a:lnTo>
                <a:lnTo>
                  <a:pt x="0" y="6512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22843" y="7886700"/>
            <a:ext cx="5663086" cy="1311642"/>
            <a:chOff x="0" y="-91815"/>
            <a:chExt cx="2448653" cy="5671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8653" cy="424264"/>
            </a:xfrm>
            <a:custGeom>
              <a:avLst/>
              <a:gdLst/>
              <a:ahLst/>
              <a:cxnLst/>
              <a:rect l="l" t="t" r="r" b="b"/>
              <a:pathLst>
                <a:path w="2448653" h="424264">
                  <a:moveTo>
                    <a:pt x="0" y="0"/>
                  </a:moveTo>
                  <a:lnTo>
                    <a:pt x="2245453" y="0"/>
                  </a:lnTo>
                  <a:lnTo>
                    <a:pt x="2448653" y="212132"/>
                  </a:lnTo>
                  <a:lnTo>
                    <a:pt x="2245453" y="424264"/>
                  </a:lnTo>
                  <a:lnTo>
                    <a:pt x="0" y="424264"/>
                  </a:lnTo>
                  <a:lnTo>
                    <a:pt x="203200" y="212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4598" y="-91815"/>
              <a:ext cx="2194653" cy="567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8"/>
                </a:lnSpc>
              </a:pPr>
              <a:r>
                <a:rPr lang="en-US" sz="2400" dirty="0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Training Set Performance</a:t>
              </a:r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907648" y="7732399"/>
          <a:ext cx="10351652" cy="1714500"/>
        </p:xfrm>
        <a:graphic>
          <a:graphicData uri="http://schemas.openxmlformats.org/drawingml/2006/table">
            <a:tbl>
              <a:tblPr/>
              <a:tblGrid>
                <a:gridCol w="2578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0.76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0.83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0.80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15216290" y="1028700"/>
            <a:ext cx="1147095" cy="1092869"/>
          </a:xfrm>
          <a:custGeom>
            <a:avLst/>
            <a:gdLst/>
            <a:ahLst/>
            <a:cxnLst/>
            <a:rect l="l" t="t" r="r" b="b"/>
            <a:pathLst>
              <a:path w="1147095" h="1092869">
                <a:moveTo>
                  <a:pt x="0" y="0"/>
                </a:moveTo>
                <a:lnTo>
                  <a:pt x="1147095" y="0"/>
                </a:lnTo>
                <a:lnTo>
                  <a:pt x="1147095" y="1092869"/>
                </a:lnTo>
                <a:lnTo>
                  <a:pt x="0" y="1092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5525" y="3520718"/>
            <a:ext cx="20579049" cy="2778544"/>
            <a:chOff x="2983049" y="13602066"/>
            <a:chExt cx="27438732" cy="3704725"/>
          </a:xfrm>
        </p:grpSpPr>
        <p:grpSp>
          <p:nvGrpSpPr>
            <p:cNvPr id="3" name="Group 3"/>
            <p:cNvGrpSpPr/>
            <p:nvPr/>
          </p:nvGrpSpPr>
          <p:grpSpPr>
            <a:xfrm>
              <a:off x="3423758" y="13602066"/>
              <a:ext cx="26557317" cy="3704725"/>
              <a:chOff x="0" y="-47625"/>
              <a:chExt cx="5245890" cy="73179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245890" cy="684173"/>
              </a:xfrm>
              <a:custGeom>
                <a:avLst/>
                <a:gdLst/>
                <a:ahLst/>
                <a:cxnLst/>
                <a:rect l="l" t="t" r="r" b="b"/>
                <a:pathLst>
                  <a:path w="5245890" h="684173">
                    <a:moveTo>
                      <a:pt x="0" y="0"/>
                    </a:moveTo>
                    <a:lnTo>
                      <a:pt x="5245890" y="0"/>
                    </a:lnTo>
                    <a:lnTo>
                      <a:pt x="5245890" y="684173"/>
                    </a:lnTo>
                    <a:lnTo>
                      <a:pt x="0" y="684173"/>
                    </a:lnTo>
                    <a:close/>
                  </a:path>
                </a:pathLst>
              </a:custGeom>
              <a:solidFill>
                <a:srgbClr val="EFEFED"/>
              </a:solidFill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245890" cy="731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983049" y="14588807"/>
              <a:ext cx="27438732" cy="1731243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marL="0" lvl="0" indent="0" algn="ctr">
                <a:lnSpc>
                  <a:spcPts val="13522"/>
                </a:lnSpc>
                <a:spcBef>
                  <a:spcPct val="0"/>
                </a:spcBef>
              </a:pPr>
              <a:r>
                <a:rPr lang="en-US" sz="9600" dirty="0">
                  <a:solidFill>
                    <a:srgbClr val="007FFF"/>
                  </a:solidFill>
                  <a:latin typeface="Brice SemiExpanded Bold"/>
                  <a:ea typeface="Brice SemiExpanded Bold"/>
                  <a:cs typeface="Brice SemiExpanded Bold"/>
                  <a:sym typeface="Brice SemiExpanded Bold"/>
                </a:rPr>
                <a:t>NEURAL NETWORK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4218" y="448707"/>
            <a:ext cx="13356714" cy="137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300"/>
              </a:lnSpc>
            </a:pPr>
            <a:r>
              <a:rPr lang="en-US" sz="8014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NEURAL NETWORK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23456" y="2258291"/>
            <a:ext cx="1044108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Learns complex patterns through layers of interconnected nodes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23871"/>
            <a:ext cx="8640462" cy="604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Pros: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Captures complex, non-linear relationships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Learns deeper patterns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through hidden layers 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Adapts through backpropagation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, improving accuracy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Handles interacting behavioral variables well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, useful for coupon acceptance</a:t>
            </a:r>
          </a:p>
          <a:p>
            <a:pPr algn="l">
              <a:lnSpc>
                <a:spcPts val="3739"/>
              </a:lnSpc>
            </a:pPr>
            <a:endParaRPr lang="en-US" sz="21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3739"/>
              </a:lnSpc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Cons: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Less interpretable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than tree-based models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Sensitive to hyperparameters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, needing careful tuning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Can overfit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without regularization (L2/alpha)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More computationally heavy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than simpler models like logistic regression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046834" y="3335587"/>
            <a:ext cx="0" cy="5992231"/>
          </a:xfrm>
          <a:prstGeom prst="line">
            <a:avLst/>
          </a:prstGeom>
          <a:ln w="38100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427834" y="3279405"/>
            <a:ext cx="6621097" cy="604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What are some alternatives to Neural Network?</a:t>
            </a:r>
          </a:p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Random Forest</a:t>
            </a:r>
          </a:p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XG Boost</a:t>
            </a:r>
          </a:p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Support Vector Machines</a:t>
            </a:r>
          </a:p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Logistic Regression</a:t>
            </a:r>
          </a:p>
          <a:p>
            <a:pPr algn="l">
              <a:lnSpc>
                <a:spcPts val="3739"/>
              </a:lnSpc>
            </a:pPr>
            <a:endParaRPr lang="en-US" sz="21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3739"/>
              </a:lnSpc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Our Findings:</a:t>
            </a:r>
          </a:p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Driver behavior, especially frequent visits to coffee shops, bars, and restaurants, along with short coupon expirations, was the strongest predictor of whether a coupon would be accepted.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54387" y="397240"/>
            <a:ext cx="11379227" cy="6784864"/>
          </a:xfrm>
          <a:custGeom>
            <a:avLst/>
            <a:gdLst/>
            <a:ahLst/>
            <a:cxnLst/>
            <a:rect l="l" t="t" r="r" b="b"/>
            <a:pathLst>
              <a:path w="11379227" h="6784864">
                <a:moveTo>
                  <a:pt x="0" y="0"/>
                </a:moveTo>
                <a:lnTo>
                  <a:pt x="11379226" y="0"/>
                </a:lnTo>
                <a:lnTo>
                  <a:pt x="11379226" y="6784864"/>
                </a:lnTo>
                <a:lnTo>
                  <a:pt x="0" y="6784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907648" y="7732399"/>
          <a:ext cx="10351652" cy="1714500"/>
        </p:xfrm>
        <a:graphic>
          <a:graphicData uri="http://schemas.openxmlformats.org/drawingml/2006/table">
            <a:tbl>
              <a:tblPr/>
              <a:tblGrid>
                <a:gridCol w="2578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0.80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0.81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0.86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0.83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622843" y="7886700"/>
            <a:ext cx="5663086" cy="1311642"/>
            <a:chOff x="0" y="-91815"/>
            <a:chExt cx="2448653" cy="567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8653" cy="424264"/>
            </a:xfrm>
            <a:custGeom>
              <a:avLst/>
              <a:gdLst/>
              <a:ahLst/>
              <a:cxnLst/>
              <a:rect l="l" t="t" r="r" b="b"/>
              <a:pathLst>
                <a:path w="2448653" h="424264">
                  <a:moveTo>
                    <a:pt x="0" y="0"/>
                  </a:moveTo>
                  <a:lnTo>
                    <a:pt x="2245453" y="0"/>
                  </a:lnTo>
                  <a:lnTo>
                    <a:pt x="2448653" y="212132"/>
                  </a:lnTo>
                  <a:lnTo>
                    <a:pt x="2245453" y="424264"/>
                  </a:lnTo>
                  <a:lnTo>
                    <a:pt x="0" y="424264"/>
                  </a:lnTo>
                  <a:lnTo>
                    <a:pt x="203200" y="212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7000" y="-91815"/>
              <a:ext cx="2194653" cy="567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8"/>
                </a:lnSpc>
              </a:pPr>
              <a:r>
                <a:rPr lang="en-US" sz="2400" dirty="0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Training Set Performance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4833613" y="1308746"/>
            <a:ext cx="1147095" cy="1092869"/>
          </a:xfrm>
          <a:custGeom>
            <a:avLst/>
            <a:gdLst/>
            <a:ahLst/>
            <a:cxnLst/>
            <a:rect l="l" t="t" r="r" b="b"/>
            <a:pathLst>
              <a:path w="1147095" h="1092869">
                <a:moveTo>
                  <a:pt x="0" y="0"/>
                </a:moveTo>
                <a:lnTo>
                  <a:pt x="1147096" y="0"/>
                </a:lnTo>
                <a:lnTo>
                  <a:pt x="1147096" y="1092869"/>
                </a:lnTo>
                <a:lnTo>
                  <a:pt x="0" y="1092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5490" y="3749866"/>
            <a:ext cx="19917988" cy="2778544"/>
            <a:chOff x="0" y="-47625"/>
            <a:chExt cx="5245890" cy="7317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90" cy="684173"/>
            </a:xfrm>
            <a:custGeom>
              <a:avLst/>
              <a:gdLst/>
              <a:ahLst/>
              <a:cxnLst/>
              <a:rect l="l" t="t" r="r" b="b"/>
              <a:pathLst>
                <a:path w="5245890" h="684173">
                  <a:moveTo>
                    <a:pt x="0" y="0"/>
                  </a:moveTo>
                  <a:lnTo>
                    <a:pt x="5245890" y="0"/>
                  </a:lnTo>
                  <a:lnTo>
                    <a:pt x="5245890" y="684173"/>
                  </a:lnTo>
                  <a:lnTo>
                    <a:pt x="0" y="684173"/>
                  </a:lnTo>
                  <a:close/>
                </a:path>
              </a:pathLst>
            </a:custGeom>
            <a:solidFill>
              <a:srgbClr val="EFEF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90" cy="731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480744" y="4574728"/>
            <a:ext cx="18936875" cy="139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88"/>
              </a:lnSpc>
              <a:spcBef>
                <a:spcPct val="0"/>
              </a:spcBef>
            </a:pPr>
            <a:r>
              <a:rPr lang="en-US" sz="9014">
                <a:solidFill>
                  <a:srgbClr val="007FFF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MODEL EVALUATION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9144" y="255349"/>
            <a:ext cx="5582354" cy="1680319"/>
            <a:chOff x="0" y="-203681"/>
            <a:chExt cx="1470250" cy="4425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0250" cy="238872"/>
            </a:xfrm>
            <a:custGeom>
              <a:avLst/>
              <a:gdLst/>
              <a:ahLst/>
              <a:cxnLst/>
              <a:rect l="l" t="t" r="r" b="b"/>
              <a:pathLst>
                <a:path w="1470250" h="238872">
                  <a:moveTo>
                    <a:pt x="0" y="0"/>
                  </a:moveTo>
                  <a:lnTo>
                    <a:pt x="1470250" y="0"/>
                  </a:lnTo>
                  <a:lnTo>
                    <a:pt x="1470250" y="238872"/>
                  </a:lnTo>
                  <a:lnTo>
                    <a:pt x="0" y="23887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7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03681"/>
              <a:ext cx="1470250" cy="429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endParaRPr lang="en-US" sz="30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  <a:p>
              <a:pPr algn="ctr">
                <a:lnSpc>
                  <a:spcPts val="546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Accuracy:  72%</a:t>
              </a:r>
              <a:endParaRPr lang="en-US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94918" y="2948205"/>
            <a:ext cx="8350807" cy="6310095"/>
          </a:xfrm>
          <a:custGeom>
            <a:avLst/>
            <a:gdLst/>
            <a:ahLst/>
            <a:cxnLst/>
            <a:rect l="l" t="t" r="r" b="b"/>
            <a:pathLst>
              <a:path w="8350807" h="6310095">
                <a:moveTo>
                  <a:pt x="0" y="0"/>
                </a:moveTo>
                <a:lnTo>
                  <a:pt x="8350807" y="0"/>
                </a:lnTo>
                <a:lnTo>
                  <a:pt x="8350807" y="6310095"/>
                </a:lnTo>
                <a:lnTo>
                  <a:pt x="0" y="631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352071" y="3060719"/>
            <a:ext cx="7691357" cy="6197581"/>
          </a:xfrm>
          <a:custGeom>
            <a:avLst/>
            <a:gdLst/>
            <a:ahLst/>
            <a:cxnLst/>
            <a:rect l="l" t="t" r="r" b="b"/>
            <a:pathLst>
              <a:path w="7691357" h="6197581">
                <a:moveTo>
                  <a:pt x="0" y="0"/>
                </a:moveTo>
                <a:lnTo>
                  <a:pt x="7691357" y="0"/>
                </a:lnTo>
                <a:lnTo>
                  <a:pt x="7691357" y="6197581"/>
                </a:lnTo>
                <a:lnTo>
                  <a:pt x="0" y="6197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406572" y="255348"/>
            <a:ext cx="5582354" cy="1680320"/>
            <a:chOff x="0" y="-203681"/>
            <a:chExt cx="1470250" cy="4425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70250" cy="238872"/>
            </a:xfrm>
            <a:custGeom>
              <a:avLst/>
              <a:gdLst/>
              <a:ahLst/>
              <a:cxnLst/>
              <a:rect l="l" t="t" r="r" b="b"/>
              <a:pathLst>
                <a:path w="1470250" h="238872">
                  <a:moveTo>
                    <a:pt x="0" y="0"/>
                  </a:moveTo>
                  <a:lnTo>
                    <a:pt x="1470250" y="0"/>
                  </a:lnTo>
                  <a:lnTo>
                    <a:pt x="1470250" y="238872"/>
                  </a:lnTo>
                  <a:lnTo>
                    <a:pt x="0" y="23887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7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03681"/>
              <a:ext cx="1470250" cy="429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endParaRPr lang="en-US" sz="30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  <a:p>
              <a:pPr algn="ctr">
                <a:lnSpc>
                  <a:spcPts val="546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Accuracy:  71%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390584" y="3282709"/>
          <a:ext cx="13506833" cy="3721581"/>
        </p:xfrm>
        <a:graphic>
          <a:graphicData uri="http://schemas.openxmlformats.org/drawingml/2006/table">
            <a:tbl>
              <a:tblPr/>
              <a:tblGrid>
                <a:gridCol w="2958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7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6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63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40527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i="1">
                          <a:solidFill>
                            <a:srgbClr val="000000"/>
                          </a:solidFill>
                          <a:latin typeface="Klein Bold Italics"/>
                          <a:ea typeface="Klein Bold Italics"/>
                          <a:cs typeface="Klein Bold Italics"/>
                          <a:sym typeface="Klein Bold Italics"/>
                        </a:rPr>
                        <a:t>Model: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0527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XG 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Klein"/>
                          <a:ea typeface="Klein"/>
                          <a:cs typeface="Klein"/>
                          <a:sym typeface="Klein"/>
                        </a:rPr>
                        <a:t>0.72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Klein"/>
                          <a:ea typeface="Klein"/>
                          <a:cs typeface="Klein"/>
                          <a:sym typeface="Klein"/>
                        </a:rPr>
                        <a:t>0.73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Klein"/>
                          <a:ea typeface="Klein"/>
                          <a:cs typeface="Klein"/>
                          <a:sym typeface="Klein"/>
                        </a:rPr>
                        <a:t>0.79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Klein"/>
                          <a:ea typeface="Klein"/>
                          <a:cs typeface="Klein"/>
                          <a:sym typeface="Klein"/>
                        </a:rPr>
                        <a:t>0.76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0527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Klein Bold"/>
                          <a:ea typeface="Klein Bold"/>
                          <a:cs typeface="Klein Bold"/>
                          <a:sym typeface="Klein Bold"/>
                        </a:rPr>
                        <a:t>Neural Network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Klein"/>
                          <a:ea typeface="Klein"/>
                          <a:cs typeface="Klein"/>
                          <a:sym typeface="Klein"/>
                        </a:rPr>
                        <a:t>0.71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Klein"/>
                          <a:ea typeface="Klein"/>
                          <a:cs typeface="Klein"/>
                          <a:sym typeface="Klein"/>
                        </a:rPr>
                        <a:t>0.73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Klein"/>
                          <a:ea typeface="Klein"/>
                          <a:cs typeface="Klein"/>
                          <a:sym typeface="Klein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Klein"/>
                          <a:ea typeface="Klein"/>
                          <a:cs typeface="Klein"/>
                          <a:sym typeface="Klein"/>
                        </a:rPr>
                        <a:t>0.75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3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002018" y="7753502"/>
            <a:ext cx="13410079" cy="105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Both models exhibit very </a:t>
            </a: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similar model performance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XG Boost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marginally outperforms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neural network in accuracy, recall, and F1 score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25110" y="7701760"/>
            <a:ext cx="2881300" cy="1162284"/>
            <a:chOff x="0" y="-102326"/>
            <a:chExt cx="1245841" cy="5025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5841" cy="359683"/>
            </a:xfrm>
            <a:custGeom>
              <a:avLst/>
              <a:gdLst/>
              <a:ahLst/>
              <a:cxnLst/>
              <a:rect l="l" t="t" r="r" b="b"/>
              <a:pathLst>
                <a:path w="1245841" h="359683">
                  <a:moveTo>
                    <a:pt x="0" y="0"/>
                  </a:moveTo>
                  <a:lnTo>
                    <a:pt x="1042641" y="0"/>
                  </a:lnTo>
                  <a:lnTo>
                    <a:pt x="1245841" y="179842"/>
                  </a:lnTo>
                  <a:lnTo>
                    <a:pt x="1042641" y="359683"/>
                  </a:lnTo>
                  <a:lnTo>
                    <a:pt x="0" y="359683"/>
                  </a:lnTo>
                  <a:lnTo>
                    <a:pt x="203200" y="1798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58034" y="-102326"/>
              <a:ext cx="991841" cy="502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8"/>
                </a:lnSpc>
              </a:pPr>
              <a:r>
                <a:rPr lang="en-US" sz="2400" dirty="0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Results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65760" y="453418"/>
            <a:ext cx="14156479" cy="229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65"/>
              </a:lnSpc>
            </a:pPr>
            <a:r>
              <a:rPr lang="en-US" sz="650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MODEL PERFORMANCE: TESTING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7975" y="1028700"/>
            <a:ext cx="7968787" cy="6813890"/>
          </a:xfrm>
          <a:custGeom>
            <a:avLst/>
            <a:gdLst/>
            <a:ahLst/>
            <a:cxnLst/>
            <a:rect l="l" t="t" r="r" b="b"/>
            <a:pathLst>
              <a:path w="7968787" h="6813890">
                <a:moveTo>
                  <a:pt x="0" y="0"/>
                </a:moveTo>
                <a:lnTo>
                  <a:pt x="7968787" y="0"/>
                </a:lnTo>
                <a:lnTo>
                  <a:pt x="7968787" y="6813890"/>
                </a:lnTo>
                <a:lnTo>
                  <a:pt x="0" y="681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08119" y="1028700"/>
            <a:ext cx="8159389" cy="6976869"/>
          </a:xfrm>
          <a:custGeom>
            <a:avLst/>
            <a:gdLst/>
            <a:ahLst/>
            <a:cxnLst/>
            <a:rect l="l" t="t" r="r" b="b"/>
            <a:pathLst>
              <a:path w="8159389" h="6976869">
                <a:moveTo>
                  <a:pt x="0" y="0"/>
                </a:moveTo>
                <a:lnTo>
                  <a:pt x="8159389" y="0"/>
                </a:lnTo>
                <a:lnTo>
                  <a:pt x="8159389" y="6976869"/>
                </a:lnTo>
                <a:lnTo>
                  <a:pt x="0" y="697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37975" y="8214069"/>
            <a:ext cx="2881300" cy="1162284"/>
            <a:chOff x="0" y="-91830"/>
            <a:chExt cx="1245841" cy="5025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5841" cy="359683"/>
            </a:xfrm>
            <a:custGeom>
              <a:avLst/>
              <a:gdLst/>
              <a:ahLst/>
              <a:cxnLst/>
              <a:rect l="l" t="t" r="r" b="b"/>
              <a:pathLst>
                <a:path w="1245841" h="359683">
                  <a:moveTo>
                    <a:pt x="0" y="0"/>
                  </a:moveTo>
                  <a:lnTo>
                    <a:pt x="1042641" y="0"/>
                  </a:lnTo>
                  <a:lnTo>
                    <a:pt x="1245841" y="179842"/>
                  </a:lnTo>
                  <a:lnTo>
                    <a:pt x="1042641" y="359683"/>
                  </a:lnTo>
                  <a:lnTo>
                    <a:pt x="0" y="359683"/>
                  </a:lnTo>
                  <a:lnTo>
                    <a:pt x="203200" y="1798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7000" y="-91830"/>
              <a:ext cx="991841" cy="502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8"/>
                </a:lnSpc>
              </a:pPr>
              <a:r>
                <a:rPr lang="en-US" sz="2400" dirty="0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Results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919126" y="8283573"/>
            <a:ext cx="14233007" cy="105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Both models still perform similarly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XG Boost: 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best model overall with the highest ROC AUC and AUPRC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3902" y="774420"/>
            <a:ext cx="12420197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50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INTERPRETATION OF FINDINGS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1969" y="4472985"/>
            <a:ext cx="3238873" cy="51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 u="sng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Strong Precision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43509" y="4457516"/>
            <a:ext cx="3822842" cy="51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 u="sng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Moderate Accuracy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29666" y="4472985"/>
            <a:ext cx="3238873" cy="51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 u="sng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Stronger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05891" y="5333288"/>
            <a:ext cx="4068857" cy="299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XG Boost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delivers </a:t>
            </a: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higher accuracy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, but the </a:t>
            </a: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Neural Network adds interpretability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into how behavioral patterns shape coupon acceptance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43509" y="5333288"/>
            <a:ext cx="4068857" cy="19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2199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72% accuracy</a:t>
            </a:r>
            <a:r>
              <a:rPr lang="en-US" sz="2199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and </a:t>
            </a:r>
            <a:r>
              <a:rPr lang="en-US" sz="2199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0.78 ROC AUC</a:t>
            </a:r>
            <a:r>
              <a:rPr lang="en-US" sz="2199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show the model reliably separates accepters from non-accepters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6977" y="5333288"/>
            <a:ext cx="4068857" cy="2493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0.811 AUPRC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: Model </a:t>
            </a: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predicts acceptance well 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which is ideal for </a:t>
            </a:r>
            <a:r>
              <a:rPr lang="en-US" sz="21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targeting customers</a:t>
            </a:r>
            <a:r>
              <a:rPr lang="en-US" sz="21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who are most likely to redeem</a:t>
            </a:r>
          </a:p>
        </p:txBody>
      </p:sp>
      <p:sp>
        <p:nvSpPr>
          <p:cNvPr id="9" name="AutoShape 9"/>
          <p:cNvSpPr/>
          <p:nvPr/>
        </p:nvSpPr>
        <p:spPr>
          <a:xfrm>
            <a:off x="303765" y="5103187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819672" y="5103187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3782028" y="5103187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9265496" y="5103187"/>
            <a:ext cx="0" cy="2552146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701266" y="5319902"/>
            <a:ext cx="4068857" cy="252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2199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Both the Neural Network and XG Boost identified the </a:t>
            </a:r>
            <a:r>
              <a:rPr lang="en-US" sz="2199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same behavioral drivers</a:t>
            </a:r>
            <a:r>
              <a:rPr lang="en-US" sz="2199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99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(</a:t>
            </a:r>
            <a:r>
              <a:rPr lang="en-US" sz="2199" b="1" dirty="0" err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CoffeeHouse</a:t>
            </a:r>
            <a:r>
              <a:rPr lang="en-US" sz="2199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, Bar visits, coupon type)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04325" y="4472985"/>
            <a:ext cx="3238873" cy="51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 u="sng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Behavior Insights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9D8376-4137-9694-D4BC-F5E9A6FCD0D0}"/>
              </a:ext>
            </a:extLst>
          </p:cNvPr>
          <p:cNvSpPr/>
          <p:nvPr/>
        </p:nvSpPr>
        <p:spPr>
          <a:xfrm>
            <a:off x="6412" y="9463636"/>
            <a:ext cx="18281588" cy="820844"/>
          </a:xfrm>
          <a:prstGeom prst="rect">
            <a:avLst/>
          </a:prstGeom>
          <a:solidFill>
            <a:srgbClr val="007FFF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3994" y="3609949"/>
            <a:ext cx="19917988" cy="2778544"/>
            <a:chOff x="0" y="-47625"/>
            <a:chExt cx="5245890" cy="7317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90" cy="684173"/>
            </a:xfrm>
            <a:custGeom>
              <a:avLst/>
              <a:gdLst/>
              <a:ahLst/>
              <a:cxnLst/>
              <a:rect l="l" t="t" r="r" b="b"/>
              <a:pathLst>
                <a:path w="5245890" h="684173">
                  <a:moveTo>
                    <a:pt x="0" y="0"/>
                  </a:moveTo>
                  <a:lnTo>
                    <a:pt x="5245890" y="0"/>
                  </a:lnTo>
                  <a:lnTo>
                    <a:pt x="5245890" y="684173"/>
                  </a:lnTo>
                  <a:lnTo>
                    <a:pt x="0" y="684173"/>
                  </a:lnTo>
                  <a:close/>
                </a:path>
              </a:pathLst>
            </a:custGeom>
            <a:solidFill>
              <a:srgbClr val="EFEF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90" cy="731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32488" y="1417315"/>
            <a:ext cx="8823024" cy="3021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96"/>
              </a:lnSpc>
              <a:spcBef>
                <a:spcPct val="0"/>
              </a:spcBef>
            </a:pPr>
            <a:r>
              <a:rPr lang="en-US" sz="19509" u="none" strike="noStrike" spc="3082">
                <a:solidFill>
                  <a:srgbClr val="00357A"/>
                </a:solidFill>
                <a:latin typeface="Brice SemiExpanded Extra-Light"/>
                <a:ea typeface="Brice SemiExpanded Extra-Light"/>
                <a:cs typeface="Brice SemiExpanded Extra-Light"/>
                <a:sym typeface="Brice SemiExpanded Extra-Light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334123" y="4443505"/>
            <a:ext cx="18936875" cy="139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88"/>
              </a:lnSpc>
              <a:spcBef>
                <a:spcPct val="0"/>
              </a:spcBef>
            </a:pPr>
            <a:r>
              <a:rPr lang="en-US" sz="9014">
                <a:solidFill>
                  <a:srgbClr val="007FFF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MOVING FORWARD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22500"/>
            <a:ext cx="16230600" cy="568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5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Service Expansion</a:t>
            </a:r>
          </a:p>
          <a:p>
            <a:pPr marL="1079499" lvl="2" indent="-359833" algn="l">
              <a:lnSpc>
                <a:spcPts val="454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Expand the model to all connected vehicles nationwide to maximize reach.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Connect the model to other mobility apps (like navigation apps) to access more users.</a:t>
            </a:r>
          </a:p>
          <a:p>
            <a:pPr marL="539749" lvl="1" indent="-269875" algn="l">
              <a:lnSpc>
                <a:spcPts val="45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Target Expansion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Add more coupons and retailers so drivers receive a wider range of relevant offers.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Expand first into the busiest metro areas.</a:t>
            </a:r>
          </a:p>
          <a:p>
            <a:pPr marL="539749" lvl="1" indent="-269875" algn="l">
              <a:lnSpc>
                <a:spcPts val="45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4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Preventative Measures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Use a risk score to spot when drivers might be getting too many offers.</a:t>
            </a:r>
          </a:p>
          <a:p>
            <a:pPr marL="1079499" lvl="2" indent="-359833" algn="l">
              <a:lnSpc>
                <a:spcPts val="45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Set up monitoring and retraining to keep the model accurate over time.​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944100" y="7538819"/>
            <a:ext cx="7315200" cy="2414137"/>
          </a:xfrm>
          <a:custGeom>
            <a:avLst/>
            <a:gdLst/>
            <a:ahLst/>
            <a:cxnLst/>
            <a:rect l="l" t="t" r="r" b="b"/>
            <a:pathLst>
              <a:path w="7315200" h="2414137">
                <a:moveTo>
                  <a:pt x="0" y="0"/>
                </a:moveTo>
                <a:lnTo>
                  <a:pt x="7315200" y="0"/>
                </a:lnTo>
                <a:lnTo>
                  <a:pt x="7315200" y="2414138"/>
                </a:lnTo>
                <a:lnTo>
                  <a:pt x="0" y="241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408296" y="734867"/>
            <a:ext cx="13471409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50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DEPLOYMENT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2988" y="700443"/>
            <a:ext cx="16374553" cy="9586557"/>
          </a:xfrm>
          <a:custGeom>
            <a:avLst/>
            <a:gdLst/>
            <a:ahLst/>
            <a:cxnLst/>
            <a:rect l="l" t="t" r="r" b="b"/>
            <a:pathLst>
              <a:path w="16374553" h="9586557">
                <a:moveTo>
                  <a:pt x="0" y="0"/>
                </a:moveTo>
                <a:lnTo>
                  <a:pt x="16374553" y="0"/>
                </a:lnTo>
                <a:lnTo>
                  <a:pt x="16374553" y="9586557"/>
                </a:lnTo>
                <a:lnTo>
                  <a:pt x="0" y="9586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30189" y="940482"/>
            <a:ext cx="12420197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500" dirty="0">
                <a:solidFill>
                  <a:srgbClr val="00357A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ETHICAL CONSIDERATIONS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42988" y="4342936"/>
            <a:ext cx="0" cy="4915364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9140288" y="4342936"/>
            <a:ext cx="0" cy="4915364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534525" y="4200061"/>
            <a:ext cx="7531825" cy="492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Privacy and Data Bias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Anonymize and aggregate 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all location history and driving behavior data before training. 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Require opt-in consent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for data usage. 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Check the model for</a:t>
            </a: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 indirect bias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(e.g., driving routes that hint at income level) 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Ensure recommendations </a:t>
            </a: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do not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unfairly </a:t>
            </a: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exclude 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any </a:t>
            </a: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customer groups</a:t>
            </a:r>
          </a:p>
          <a:p>
            <a:pPr algn="l">
              <a:lnSpc>
                <a:spcPts val="4368"/>
              </a:lnSpc>
            </a:pPr>
            <a:endParaRPr lang="en-US" sz="2400" b="1">
              <a:solidFill>
                <a:srgbClr val="000000"/>
              </a:solidFill>
              <a:latin typeface="Klein Bold"/>
              <a:ea typeface="Klein Bold"/>
              <a:cs typeface="Klein Bold"/>
              <a:sym typeface="Klei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16245" y="4200061"/>
            <a:ext cx="7365805" cy="547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Driver Safety and Distraction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Prevent driver distraction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at all times.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 Implement strict spatial filtering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to block notifications when:</a:t>
            </a:r>
          </a:p>
          <a:p>
            <a:pPr marL="1036320" lvl="2" indent="-345440" algn="l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The vehicle is in motion</a:t>
            </a:r>
          </a:p>
          <a:p>
            <a:pPr marL="1036320" lvl="2" indent="-345440" algn="l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During high-complexity driving</a:t>
            </a:r>
          </a:p>
          <a:p>
            <a:pPr marL="1036320" lvl="2" indent="-345440" algn="l">
              <a:lnSpc>
                <a:spcPts val="436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Near schools/hospitals. </a:t>
            </a:r>
          </a:p>
          <a:p>
            <a:pPr marL="518160" lvl="1" indent="-259080" algn="l">
              <a:lnSpc>
                <a:spcPts val="4368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Notifications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should be delivered only when the </a:t>
            </a:r>
            <a:r>
              <a:rPr lang="en-US" sz="2400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vehicle is stationary</a:t>
            </a:r>
            <a:r>
              <a:rPr lang="en-US" sz="24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.</a:t>
            </a:r>
          </a:p>
          <a:p>
            <a:pPr algn="l">
              <a:lnSpc>
                <a:spcPts val="4368"/>
              </a:lnSpc>
            </a:pPr>
            <a:endParaRPr lang="en-US" sz="240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7245012" y="4342936"/>
            <a:ext cx="0" cy="4915364"/>
          </a:xfrm>
          <a:prstGeom prst="line">
            <a:avLst/>
          </a:prstGeom>
          <a:ln w="28575" cap="flat">
            <a:solidFill>
              <a:srgbClr val="007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02151" y="441804"/>
            <a:ext cx="6465697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200" dirty="0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3279" y="1927170"/>
            <a:ext cx="16461442" cy="55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262" b="1" u="sng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Key Findings and Model Performance</a:t>
            </a:r>
          </a:p>
          <a:p>
            <a:pPr marL="488552" lvl="1" indent="-244276" algn="l">
              <a:lnSpc>
                <a:spcPts val="3620"/>
              </a:lnSpc>
              <a:buFont typeface="Arial"/>
              <a:buChar char="•"/>
            </a:pPr>
            <a:r>
              <a:rPr lang="en-US" sz="2262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Predictive Power:</a:t>
            </a:r>
            <a:r>
              <a:rPr lang="en-US" sz="2262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The classification models (</a:t>
            </a:r>
            <a:r>
              <a:rPr lang="en-US" sz="2262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XGBoost</a:t>
            </a:r>
            <a:r>
              <a:rPr lang="en-US" sz="2262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/Neural Network) demonstrated accuracy in identifying the optimal combination of driver profile, coupon type, and environmental factors leading to coupon acceptance.</a:t>
            </a:r>
          </a:p>
          <a:p>
            <a:pPr marL="488552" lvl="1" indent="-244276" algn="l">
              <a:lnSpc>
                <a:spcPts val="3620"/>
              </a:lnSpc>
              <a:buFont typeface="Arial"/>
              <a:buChar char="•"/>
            </a:pPr>
            <a:r>
              <a:rPr lang="en-US" sz="2262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Feature Importance:</a:t>
            </a:r>
            <a:r>
              <a:rPr lang="en-US" sz="2262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Key drivers of acceptance include frequent visits to coffee shops, bars, and restaurants, along with short coupon expirations and distance to restaurants.</a:t>
            </a:r>
          </a:p>
          <a:p>
            <a:pPr algn="l">
              <a:lnSpc>
                <a:spcPts val="3620"/>
              </a:lnSpc>
            </a:pPr>
            <a:r>
              <a:rPr lang="en-US" sz="2262" b="1" u="sng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Business Impact</a:t>
            </a:r>
          </a:p>
          <a:p>
            <a:pPr marL="488552" lvl="1" indent="-244276" algn="l">
              <a:lnSpc>
                <a:spcPts val="3620"/>
              </a:lnSpc>
              <a:buFont typeface="Arial"/>
              <a:buChar char="•"/>
            </a:pPr>
            <a:r>
              <a:rPr lang="en-US" sz="2262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Increased ROI:</a:t>
            </a:r>
            <a:r>
              <a:rPr lang="en-US" sz="2262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By moving from broad-casting to targeted promotion, the company will reduce the cost of wasted coupon distribution.</a:t>
            </a:r>
          </a:p>
          <a:p>
            <a:pPr marL="488552" lvl="1" indent="-244276" algn="l">
              <a:lnSpc>
                <a:spcPts val="3620"/>
              </a:lnSpc>
              <a:buFont typeface="Arial"/>
              <a:buChar char="•"/>
            </a:pPr>
            <a:r>
              <a:rPr lang="en-US" sz="2262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Revenue Growth:</a:t>
            </a:r>
            <a:r>
              <a:rPr lang="en-US" sz="2262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Personalized, timely offers will increase acceptance rates, generating additional revenue.</a:t>
            </a:r>
          </a:p>
          <a:p>
            <a:pPr marL="488552" lvl="1" indent="-244276" algn="l">
              <a:lnSpc>
                <a:spcPts val="3620"/>
              </a:lnSpc>
              <a:buFont typeface="Arial"/>
              <a:buChar char="•"/>
            </a:pPr>
            <a:r>
              <a:rPr lang="en-US" sz="2262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Customer Experience:</a:t>
            </a:r>
            <a:r>
              <a:rPr lang="en-US" sz="2262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Relevance of promotions enhances customer satisfaction and engagement.</a:t>
            </a:r>
          </a:p>
          <a:p>
            <a:pPr algn="l">
              <a:lnSpc>
                <a:spcPts val="4096"/>
              </a:lnSpc>
            </a:pPr>
            <a:endParaRPr lang="en-US" sz="2262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28700" y="7928468"/>
            <a:ext cx="7315200" cy="2184454"/>
          </a:xfrm>
          <a:custGeom>
            <a:avLst/>
            <a:gdLst/>
            <a:ahLst/>
            <a:cxnLst/>
            <a:rect l="l" t="t" r="r" b="b"/>
            <a:pathLst>
              <a:path w="7315200" h="2184454">
                <a:moveTo>
                  <a:pt x="0" y="0"/>
                </a:moveTo>
                <a:lnTo>
                  <a:pt x="7315200" y="0"/>
                </a:lnTo>
                <a:lnTo>
                  <a:pt x="7315200" y="2184454"/>
                </a:lnTo>
                <a:lnTo>
                  <a:pt x="0" y="2184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65643" y="555008"/>
            <a:ext cx="1335671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75"/>
              </a:lnSpc>
            </a:pPr>
            <a:r>
              <a:rPr lang="en-US" sz="7500">
                <a:solidFill>
                  <a:srgbClr val="00357A"/>
                </a:soli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NEXT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019300"/>
            <a:ext cx="13978076" cy="6804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endParaRPr dirty="0"/>
          </a:p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Improving Model Performance: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Increase regularization (e.g., alpha for NN)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Tune model parameters (depth for XG Boost, layers for NN)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Perform K-Fold Cross Validation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Try additional feature engineering</a:t>
            </a:r>
          </a:p>
          <a:p>
            <a:pPr algn="l">
              <a:lnSpc>
                <a:spcPts val="3780"/>
              </a:lnSpc>
            </a:pPr>
            <a:endParaRPr lang="en-US" sz="2700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Research additional data sources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Find non-survey data to strengthen and diversify the analysis</a:t>
            </a:r>
          </a:p>
          <a:p>
            <a:pPr algn="l">
              <a:lnSpc>
                <a:spcPts val="3780"/>
              </a:lnSpc>
            </a:pPr>
            <a:endParaRPr lang="en-US" sz="2700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Conduct market research and consider other factors in coupon acceptance</a:t>
            </a:r>
          </a:p>
          <a:p>
            <a:pPr algn="l">
              <a:lnSpc>
                <a:spcPts val="3780"/>
              </a:lnSpc>
            </a:pPr>
            <a:endParaRPr lang="en-US" sz="2700" b="1" dirty="0">
              <a:solidFill>
                <a:srgbClr val="000000"/>
              </a:solidFill>
              <a:latin typeface="Klein Bold"/>
              <a:ea typeface="Klein Bold"/>
              <a:cs typeface="Klein Bold"/>
              <a:sym typeface="Klein Bold"/>
            </a:endParaRPr>
          </a:p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Develop additional data science models</a:t>
            </a:r>
          </a:p>
          <a:p>
            <a:pPr marL="1165863" lvl="2" indent="-388621" algn="l">
              <a:lnSpc>
                <a:spcPts val="3780"/>
              </a:lnSpc>
              <a:buFont typeface="Arial"/>
              <a:buChar char="⚬"/>
            </a:pPr>
            <a:r>
              <a:rPr lang="en-US" sz="270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CatBoost</a:t>
            </a:r>
            <a:r>
              <a:rPr lang="en-US" sz="270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, Random Forest, Logistic Regression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6BE41C-6D07-1ACD-F7E0-18D1051BC7D6}"/>
              </a:ext>
            </a:extLst>
          </p:cNvPr>
          <p:cNvSpPr/>
          <p:nvPr/>
        </p:nvSpPr>
        <p:spPr>
          <a:xfrm>
            <a:off x="6412" y="9463636"/>
            <a:ext cx="18281588" cy="820844"/>
          </a:xfrm>
          <a:prstGeom prst="rect">
            <a:avLst/>
          </a:prstGeom>
          <a:solidFill>
            <a:srgbClr val="007FFF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211" y="1596186"/>
            <a:ext cx="14050397" cy="6082731"/>
            <a:chOff x="0" y="0"/>
            <a:chExt cx="4575260" cy="19807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5259" cy="1980732"/>
            </a:xfrm>
            <a:custGeom>
              <a:avLst/>
              <a:gdLst/>
              <a:ahLst/>
              <a:cxnLst/>
              <a:rect l="l" t="t" r="r" b="b"/>
              <a:pathLst>
                <a:path w="4575259" h="1980732">
                  <a:moveTo>
                    <a:pt x="4337134" y="0"/>
                  </a:moveTo>
                  <a:lnTo>
                    <a:pt x="4575259" y="238125"/>
                  </a:lnTo>
                  <a:lnTo>
                    <a:pt x="4575259" y="1742607"/>
                  </a:lnTo>
                  <a:lnTo>
                    <a:pt x="4337134" y="1980732"/>
                  </a:lnTo>
                  <a:lnTo>
                    <a:pt x="238125" y="1980732"/>
                  </a:lnTo>
                  <a:lnTo>
                    <a:pt x="0" y="1742607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337134" y="0"/>
                  </a:lnTo>
                  <a:close/>
                </a:path>
              </a:pathLst>
            </a:custGeom>
            <a:solidFill>
              <a:srgbClr val="00357A"/>
            </a:solidFill>
            <a:ln w="38100" cap="sq">
              <a:solidFill>
                <a:srgbClr val="00357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15875"/>
              <a:ext cx="4448260" cy="1901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949227" y="1028700"/>
            <a:ext cx="4166828" cy="1339719"/>
            <a:chOff x="0" y="0"/>
            <a:chExt cx="1086908" cy="3494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6908" cy="349463"/>
            </a:xfrm>
            <a:custGeom>
              <a:avLst/>
              <a:gdLst/>
              <a:ahLst/>
              <a:cxnLst/>
              <a:rect l="l" t="t" r="r" b="b"/>
              <a:pathLst>
                <a:path w="1086908" h="349463">
                  <a:moveTo>
                    <a:pt x="174731" y="0"/>
                  </a:moveTo>
                  <a:lnTo>
                    <a:pt x="912177" y="0"/>
                  </a:lnTo>
                  <a:cubicBezTo>
                    <a:pt x="958518" y="0"/>
                    <a:pt x="1002962" y="18409"/>
                    <a:pt x="1035730" y="51178"/>
                  </a:cubicBezTo>
                  <a:cubicBezTo>
                    <a:pt x="1068499" y="83946"/>
                    <a:pt x="1086908" y="128390"/>
                    <a:pt x="1086908" y="174731"/>
                  </a:cubicBezTo>
                  <a:lnTo>
                    <a:pt x="1086908" y="174731"/>
                  </a:lnTo>
                  <a:cubicBezTo>
                    <a:pt x="1086908" y="271233"/>
                    <a:pt x="1008678" y="349463"/>
                    <a:pt x="912177" y="349463"/>
                  </a:cubicBezTo>
                  <a:lnTo>
                    <a:pt x="174731" y="349463"/>
                  </a:lnTo>
                  <a:cubicBezTo>
                    <a:pt x="128390" y="349463"/>
                    <a:pt x="83946" y="331054"/>
                    <a:pt x="51178" y="298285"/>
                  </a:cubicBezTo>
                  <a:cubicBezTo>
                    <a:pt x="18409" y="265517"/>
                    <a:pt x="0" y="221073"/>
                    <a:pt x="0" y="174731"/>
                  </a:cubicBezTo>
                  <a:lnTo>
                    <a:pt x="0" y="174731"/>
                  </a:lnTo>
                  <a:cubicBezTo>
                    <a:pt x="0" y="128390"/>
                    <a:pt x="18409" y="83946"/>
                    <a:pt x="51178" y="51178"/>
                  </a:cubicBezTo>
                  <a:cubicBezTo>
                    <a:pt x="83946" y="18409"/>
                    <a:pt x="128390" y="0"/>
                    <a:pt x="174731" y="0"/>
                  </a:cubicBezTo>
                  <a:close/>
                </a:path>
              </a:pathLst>
            </a:custGeom>
            <a:solidFill>
              <a:srgbClr val="EFEFE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86908" cy="39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88511" y="1143599"/>
            <a:ext cx="3888259" cy="1109921"/>
          </a:xfrm>
          <a:custGeom>
            <a:avLst/>
            <a:gdLst/>
            <a:ahLst/>
            <a:cxnLst/>
            <a:rect l="l" t="t" r="r" b="b"/>
            <a:pathLst>
              <a:path w="3888259" h="1109921">
                <a:moveTo>
                  <a:pt x="0" y="0"/>
                </a:moveTo>
                <a:lnTo>
                  <a:pt x="3888259" y="0"/>
                </a:lnTo>
                <a:lnTo>
                  <a:pt x="3888259" y="1109921"/>
                </a:lnTo>
                <a:lnTo>
                  <a:pt x="0" y="110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051968" y="3854573"/>
            <a:ext cx="13874884" cy="1407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65"/>
              </a:lnSpc>
            </a:pPr>
            <a:r>
              <a:rPr lang="en-US" sz="9457" b="1">
                <a:solidFill>
                  <a:srgbClr val="EFEF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47059" y="5651131"/>
            <a:ext cx="11351466" cy="51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9"/>
              </a:lnSpc>
              <a:spcBef>
                <a:spcPct val="0"/>
              </a:spcBef>
            </a:pPr>
            <a:r>
              <a:rPr lang="en-US" sz="2749" b="1">
                <a:solidFill>
                  <a:srgbClr val="007FFF"/>
                </a:solidFill>
                <a:latin typeface="Klein Bold"/>
                <a:ea typeface="Klein Bold"/>
                <a:cs typeface="Klein Bold"/>
                <a:sym typeface="Klein Bold"/>
              </a:rPr>
              <a:t>Any Questions?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0169" y="1470297"/>
            <a:ext cx="2465377" cy="40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57"/>
              </a:lnSpc>
              <a:spcBef>
                <a:spcPct val="0"/>
              </a:spcBef>
            </a:pPr>
            <a:r>
              <a:rPr lang="en-US" sz="2035" b="1" spc="270">
                <a:solidFill>
                  <a:srgbClr val="EFEFED"/>
                </a:solidFill>
                <a:latin typeface="Klein Bold"/>
                <a:ea typeface="Klein Bold"/>
                <a:cs typeface="Klein Bold"/>
                <a:sym typeface="Klein Bold"/>
              </a:rPr>
              <a:t>12 / 1 /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A3AB1D4964014782778D274F66A0BA" ma:contentTypeVersion="6" ma:contentTypeDescription="Create a new document." ma:contentTypeScope="" ma:versionID="f0e807ceac6722c572a1350ca2804ccc">
  <xsd:schema xmlns:xsd="http://www.w3.org/2001/XMLSchema" xmlns:xs="http://www.w3.org/2001/XMLSchema" xmlns:p="http://schemas.microsoft.com/office/2006/metadata/properties" xmlns:ns3="fc27f61c-609e-4e78-b8cd-bdc4f3686ee5" targetNamespace="http://schemas.microsoft.com/office/2006/metadata/properties" ma:root="true" ma:fieldsID="4ec86d2e84ab532dd4fe310306f4b407" ns3:_="">
    <xsd:import namespace="fc27f61c-609e-4e78-b8cd-bdc4f3686ee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7f61c-609e-4e78-b8cd-bdc4f3686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c27f61c-609e-4e78-b8cd-bdc4f3686ee5" xsi:nil="true"/>
  </documentManagement>
</p:properties>
</file>

<file path=customXml/itemProps1.xml><?xml version="1.0" encoding="utf-8"?>
<ds:datastoreItem xmlns:ds="http://schemas.openxmlformats.org/officeDocument/2006/customXml" ds:itemID="{185141AF-361C-4D36-83F8-5C5CF133F3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27f61c-609e-4e78-b8cd-bdc4f3686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F57D01-2751-4EF9-AC14-E18CA14EB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B2C0FE-7DE4-4B06-838D-2D47F53CDEF1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fc27f61c-609e-4e78-b8cd-bdc4f3686ee5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1708</Words>
  <Application>Microsoft Office PowerPoint</Application>
  <PresentationFormat>Custom</PresentationFormat>
  <Paragraphs>300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Klein Bold Italics</vt:lpstr>
      <vt:lpstr>Brice SemiExpanded Bold</vt:lpstr>
      <vt:lpstr>Klein Bold</vt:lpstr>
      <vt:lpstr>Calibri</vt:lpstr>
      <vt:lpstr>Klein</vt:lpstr>
      <vt:lpstr>Brice SemiExpanded</vt:lpstr>
      <vt:lpstr>Arial</vt:lpstr>
      <vt:lpstr>Aptos</vt:lpstr>
      <vt:lpstr>Brice SemiExpanded Extra-Light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Animated Modern Project Canvas Infographics</dc:title>
  <dc:creator>Theresa Borlongan</dc:creator>
  <cp:lastModifiedBy>Theresa Borlongan (Student)</cp:lastModifiedBy>
  <cp:revision>4</cp:revision>
  <dcterms:created xsi:type="dcterms:W3CDTF">2006-08-16T00:00:00Z</dcterms:created>
  <dcterms:modified xsi:type="dcterms:W3CDTF">2025-12-01T04:27:14Z</dcterms:modified>
  <dc:identifier>DAG6JH8TiOA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0x010100A8A3AB1D4964014782778D274F66A0BA</vt:lpwstr>
  </property>
</Properties>
</file>